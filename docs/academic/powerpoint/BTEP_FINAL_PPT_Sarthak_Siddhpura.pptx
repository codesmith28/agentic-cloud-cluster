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12192000"/>
  <p:notesSz cx="6858000" cy="9144000"/>
  <p:embeddedFontLst>
    <p:embeddedFont>
      <p:font typeface="Garamond"/>
      <p:regular r:id="rId44"/>
      <p:bold r:id="rId45"/>
      <p:italic r:id="rId46"/>
      <p:boldItalic r:id="rId47"/>
    </p:embeddedFont>
    <p:embeddedFont>
      <p:font typeface="Helvetica Neue"/>
      <p:regular r:id="rId48"/>
      <p:bold r:id="rId49"/>
      <p:italic r:id="rId50"/>
      <p:boldItalic r:id="rId51"/>
    </p:embeddedFont>
    <p:embeddedFont>
      <p:font typeface="Helvetica Neue Light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6" roundtripDataSignature="AMtx7mivs/Jat+46Nzc8vfyD1pnKKB9X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Garamond-regular.fntdata"/><Relationship Id="rId43" Type="http://schemas.openxmlformats.org/officeDocument/2006/relationships/slide" Target="slides/slide38.xml"/><Relationship Id="rId46" Type="http://schemas.openxmlformats.org/officeDocument/2006/relationships/font" Target="fonts/Garamond-italic.fntdata"/><Relationship Id="rId45" Type="http://schemas.openxmlformats.org/officeDocument/2006/relationships/font" Target="fonts/Garamond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HelveticaNeue-regular.fntdata"/><Relationship Id="rId47" Type="http://schemas.openxmlformats.org/officeDocument/2006/relationships/font" Target="fonts/Garamond-boldItalic.fntdata"/><Relationship Id="rId49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HelveticaNeue-boldItalic.fntdata"/><Relationship Id="rId50" Type="http://schemas.openxmlformats.org/officeDocument/2006/relationships/font" Target="fonts/HelveticaNeue-italic.fntdata"/><Relationship Id="rId53" Type="http://schemas.openxmlformats.org/officeDocument/2006/relationships/font" Target="fonts/HelveticaNeueLight-bold.fntdata"/><Relationship Id="rId52" Type="http://schemas.openxmlformats.org/officeDocument/2006/relationships/font" Target="fonts/HelveticaNeueLight-regular.fntdata"/><Relationship Id="rId11" Type="http://schemas.openxmlformats.org/officeDocument/2006/relationships/slide" Target="slides/slide6.xml"/><Relationship Id="rId55" Type="http://schemas.openxmlformats.org/officeDocument/2006/relationships/font" Target="fonts/HelveticaNeueLight-boldItalic.fntdata"/><Relationship Id="rId10" Type="http://schemas.openxmlformats.org/officeDocument/2006/relationships/slide" Target="slides/slide5.xml"/><Relationship Id="rId54" Type="http://schemas.openxmlformats.org/officeDocument/2006/relationships/font" Target="fonts/HelveticaNeueLight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Good morning everyone. Today I will be presenting my B.Tech final engineering project titled "Agentic Cloud Cluster."</a:t>
            </a:r>
            <a:br>
              <a:rPr lang="en-US"/>
            </a:b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This project was completed under the guidance of Professor Sanjay Chaudhary at Ahmedabad University.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 will walk you through the system architecture, the integration of reinforcement learning for task scheduling, and our final benchmark results.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79784054a_8_4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Speaker notes:</a:t>
            </a:r>
            <a:endParaRPr b="1"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Here is the roadmap for today's presentation.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begin by discussing the motivation behind the project and the current landscape of cluster scheduling.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Then, we will dive deep into the Go-based methodology and the reinforcement learning architecture.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Finally, we will review the performance benchmarks and discuss the future scope of this work.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g3e79784054a_8_4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79784054a_8_8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its core, the Agentic Cloud Cluster is a custom distributed execution framework.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system uses a Go-based control plane to manage a master node and multiple worker nodes.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Instead of running tasks directly on the host, all jobs are containerized using Docker for isolation.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defining feature of this cluster is that scheduling is treated as a learning problem, driven by a Proximal Policy Optimization (PPO) agent.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e79784054a_8_8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bffdb8fb5_14_21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Why did we build this? In modern computing, workloads are complex, and workers are often heterogeneous—some have more memory, others have more CPU.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Basic schedulers like Round-Robin simply cycle through workers, which can lead to overloaded nodes and missed deadlines.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Even heuristic schedulers struggle because hardcoded rules cannot adapt to sudden bursts of different task types.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 needed a scheduler that could dynamically learn the best trade-offs based on the actual cluster state.</a:t>
            </a:r>
            <a:endParaRPr/>
          </a:p>
        </p:txBody>
      </p:sp>
      <p:sp>
        <p:nvSpPr>
          <p:cNvPr id="291" name="Google Shape;291;g3dbffdb8fb5_14_21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79784054a_85_1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This brings us to Reinforcement Learning.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Scheduling fits perfectly into the RL paradigm because every placement alters the future state of the cluster.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If we place a massive task on our only high-memory node, subsequent memory-heavy tasks will fail.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 our setup, the "State" is what the scheduler sees, the "Action" is picking a worker, and the "Reward" evaluates how good that placement was for the cluster's health.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e79784054a_85_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79784054a_85_49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Our core objectives were clear. First, build the fundamental Go cluster from scratch.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Second, ensure robust worker lifecycle management, including heartbeats and resource accounting.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Third, establish a clean boundary so we can plug and play different schedulers for comparison.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Fourth, train the PPO model on real-world cluster traces rather than just synthetic data.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And finally, stress-test the entire system to measure the real-world impact.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e79784054a_85_49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technology stack was chosen for performance and clear boundaries.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Go handles the core distributed cluster because of its excellent concurrency model with goroutines.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Workers execute tasks inside Docker containers for perfect portability.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We use gRPC for fast, strictly typed communication between the Go cluster and the Python-based PPO service.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Finally, MongoDB persists the lifecycle state of tasks and worker metadata.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Here is the high-level architecture of the Agentic Cloud Cluster.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Task submissions come into the Master Node, which logs them into MongoDB and assesses worker telemetry.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Master then asks the Scheduling Layer for a decision. The Scheduling Layer reaches out to the separate Python Agentic Scheduler via gRPC.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Once a decision is made, the Master dispatches the job to the selected Worker Node, which executes the Docker container and reports back.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79784054a_8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Here is the high-level architecture of the Agentic Cloud Cluster.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Task submissions come into the Master Node, which logs them into MongoDB and assesses worker telemetry.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Master then asks the Scheduling Layer for a decision. The Scheduling Layer reaches out to the separate Python Agentic Scheduler via gRPC.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Once a decision is made, the Master dispatches the job to the selected Worker Node, which executes the Docker container and reports back.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g3e79784054a_8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79784054a_85_45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Here is the high-level architecture of the Agentic Cloud Cluster.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Task submissions come into the Master Node, which logs them into MongoDB and assesses worker telemetry.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Master then asks the Scheduling Layer for a decision. The Scheduling Layer reaches out to the separate Python Agentic Scheduler via gRPC.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Once a decision is made, the Master dispatches the job to the selected Worker Node, which executes the Docker container and reports back.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3e79784054a_85_45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e79784054a_8_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Here is the high-level architecture of the Agentic Cloud Cluster.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Task submissions come into the Master Node, which logs them into MongoDB and assesses worker telemetry.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Master then asks the Scheduling Layer for a decision. The Scheduling Layer reaches out to the separate Python Agentic Scheduler via gRPC.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Once a decision is made, the Master dispatches the job to the selected Worker Node, which executes the Docker container and reports back.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g3e79784054a_8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79784054a_8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Here is the high-level architecture of the Agentic Cloud Cluster.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Task submissions come into the Master Node, which logs them into MongoDB and assesses worker telemetry.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Master then asks the Scheduling Layer for a decision. The Scheduling Layer reaches out to the separate Python Agentic Scheduler via gRPC.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Once a decision is made, the Master dispatches the job to the selected Worker Node, which executes the Docker container and reports back.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g3e79784054a_8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79784054a_8_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Here is the high-level architecture of the Agentic Cloud Cluster.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Task submissions come into the Master Node, which logs them into MongoDB and assesses worker telemetry.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Master then asks the Scheduling Layer for a decision. The Scheduling Layer reaches out to the separate Python Agentic Scheduler via gRPC.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Once a decision is made, the Master dispatches the job to the selected Worker Node, which executes the Docker container and reports back.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g3e79784054a_8_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dbffdb8fb5_14_3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In designing the RL agent, we evaluated several approaches.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Q-Tables were too simplistic because a cluster has a massive, continuous state space—you can't just bucket CPU percentages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Deep Q-Networks were better, but they struggle when the number of available workers changes dynamically.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settled on Proximal Policy Optimization because it directly outputs a probability distribution for worker selection, allows us to mask out nodes that lack resources, and updates conservatively to prevent sudden catastrophic failures.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g3dbffdb8fb5_14_3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dbde0d0470_0_2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Here is the high-level architecture of the Agentic Cloud Cluster.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Task submissions come into the Master Node, which logs them into MongoDB and assesses worker telemetry.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Master then asks the Scheduling Layer for a decision. The Scheduling Layer reaches out to the separate Python Agentic Scheduler via gRPC.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Once a decision is made, the Master dispatches the job to the selected Worker Node, which executes the Docker container and reports back.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g3dbde0d0470_0_2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e79784054a_85_37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To ensure the scheduler works in the real world, we trained it offline using the Alibaba Cluster Trace, which contains real production workload patterns.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We built a custom trace replay environment that feeds tasks to the model chronologically.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 critical methodology decision was using lifecycle resource tracking—reserving resources for the exact simulated runtime—rather than simple decay formulas, ensuring accurate state representation.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g3e79784054a_85_37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e79784054a_85_25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Here is the high-level architecture of the Agentic Cloud Cluster.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Task submissions come into the Master Node, which logs them into MongoDB and assesses worker telemetry.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Master then asks the Scheduling Layer for a decision. The Scheduling Layer reaches out to the separate Python Agentic Scheduler via gRPC.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Once a decision is made, the Master dispatches the job to the selected Worker Node, which executes the Docker container and reports back.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g3e79784054a_85_25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dbde0d0470_0_2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Here is the high-level architecture of the Agentic Cloud Cluster.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Task submissions come into the Master Node, which logs them into MongoDB and assesses worker telemetry.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Master then asks the Scheduling Layer for a decision. The Scheduling Layer reaches out to the separate Python Agentic Scheduler via gRPC.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Once a decision is made, the Master dispatches the job to the selected Worker Node, which executes the Docker container and reports back.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g3dbde0d0470_0_2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e79784054a_85_29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Term How it is computed and what it means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 1−Lselected. A lightly loaded selected worker gives a higher headroom bonus.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If the worker is almost full, this value becomes small.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Qp min(queueWaitProxy/slaBudget,3.0). The proxy is trace queue wait plus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runtime×Lselected. It estimates how much waiting pressure the placement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creates relative to the SLA budget.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Tp max(turnaroundProxy/slaBudget−1,0). Turnaround proxy is queue wait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proxy plus runtime. This term becomes positive only when expected turnaround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crosses the SLA budget.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Ip max(Lselected−Lcluster,0). This is imbalance in the system. It means the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selected worker is more loaded than the cluster average. If the selected worker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is below or equal to average load, the penalty is zero.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∆I σ(loadsafter)−σ(loadsbefore). This measures change in imbalance using the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standard deviation of worker loads. Positive means the action made the cluster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less balanced. Negative means it made the cluster more balanced.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Rq 0.05 ×min(requeueCount,4). A task that has already been requeued receives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 small extra penalty so the scheduler avoids repeating risky placements.</a:t>
            </a:r>
            <a:endParaRPr/>
          </a:p>
        </p:txBody>
      </p:sp>
      <p:sp>
        <p:nvSpPr>
          <p:cNvPr id="524" name="Google Shape;524;g3e79784054a_85_29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Looking at the training curves, we successfully achieved convergence.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average reward steadily climbed and stabilized around 1.63.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Simultaneously, we observed policy loss and entropy dropping. The drop in entropy is exactly what we want to see—it proves the model stopped guessing randomly and learned concrete, reliable scheduling strategies.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e79784054a_8_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Looking at the training curves, we successfully achieved convergence.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average reward steadily climbed and stabilized around 1.63.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Simultaneously, we observed policy loss and entropy dropping. The drop in entropy is exactly what we want to see—it proves the model stopped guessing randomly and learned concrete, reliable scheduling strategies.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7" name="Google Shape;557;g3e79784054a_8_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dbde0d0470_0_3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Looking at the training curves, we successfully achieved convergence.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average reward steadily climbed and stabilized around 1.63.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Simultaneously, we observed policy loss and entropy dropping. The drop in entropy is exactly what we want to see—it proves the model stopped guessing randomly and learned concrete, reliable scheduling strategies.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g3dbde0d0470_0_3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dbde0d0470_0_3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5" name="Google Shape;575;g3dbde0d0470_0_3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dbde0d0470_0_3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Web UI</a:t>
            </a:r>
            <a:endParaRPr/>
          </a:p>
        </p:txBody>
      </p:sp>
      <p:sp>
        <p:nvSpPr>
          <p:cNvPr id="585" name="Google Shape;585;g3dbde0d0470_0_3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e79784054a_8_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Web UI</a:t>
            </a:r>
            <a:endParaRPr/>
          </a:p>
        </p:txBody>
      </p:sp>
      <p:sp>
        <p:nvSpPr>
          <p:cNvPr id="594" name="Google Shape;594;g3e79784054a_8_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e79784054a_85_64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Web UI</a:t>
            </a:r>
            <a:endParaRPr/>
          </a:p>
        </p:txBody>
      </p:sp>
      <p:sp>
        <p:nvSpPr>
          <p:cNvPr id="603" name="Google Shape;603;g3e79784054a_85_64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e79784054a_8_1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Web UI</a:t>
            </a:r>
            <a:endParaRPr/>
          </a:p>
        </p:txBody>
      </p:sp>
      <p:sp>
        <p:nvSpPr>
          <p:cNvPr id="612" name="Google Shape;612;g3e79784054a_8_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e79784054a_8_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Web UI</a:t>
            </a:r>
            <a:endParaRPr/>
          </a:p>
        </p:txBody>
      </p:sp>
      <p:sp>
        <p:nvSpPr>
          <p:cNvPr id="621" name="Google Shape;621;g3e79784054a_8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e79784054a_8_1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Web UI</a:t>
            </a:r>
            <a:endParaRPr/>
          </a:p>
        </p:txBody>
      </p:sp>
      <p:sp>
        <p:nvSpPr>
          <p:cNvPr id="630" name="Google Shape;630;g3e79784054a_8_1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e79784054a_85_19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9" name="Google Shape;639;g3e79784054a_85_19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e79784054a_85_15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This project bridged two highly complex domains.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 learned that distributed systems rely heavily on robust state management and failure recovery.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On the AI side, I learned that a model is only as good as its reward function, and AI in systems engineering must be deployed with strict safety guardrails.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project was successfully executed over a 17-week timeline, moving from Go development to final PPO benchmarking.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g3e79784054a_85_15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e79784054a_85_11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This project bridged two highly complex domains.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I learned that distributed systems rely heavily on robust state management and failure recovery.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On the AI side, I learned that a model is only as good as its reward function, and AI in systems engineering must be deployed with strict safety guardrails.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The project was successfully executed over a 17-week timeline, moving from Go development to final PPO benchmarking.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5" name="Google Shape;675;g3e79784054a_85_11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e79784054a_85_8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0" name="Google Shape;710;g3e79784054a_85_8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e79784054a_8_2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5" name="Google Shape;725;g3e79784054a_8_2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g3e79784054a_8_2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3" name="Google Shape;733;g3e79784054a_8_2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x">
  <p:cSld name="TITLE_AND_BODY">
    <p:bg>
      <p:bgPr>
        <a:solidFill>
          <a:srgbClr val="801B19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16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16" name="Google Shape;16;p1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17" name="Google Shape;17;p16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18" name="Google Shape;18;p16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Picture 4" id="19" name="Google Shape;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2931" y="1479396"/>
            <a:ext cx="4106139" cy="134772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6"/>
          <p:cNvSpPr txBox="1"/>
          <p:nvPr>
            <p:ph type="title"/>
          </p:nvPr>
        </p:nvSpPr>
        <p:spPr>
          <a:xfrm>
            <a:off x="844150" y="3874808"/>
            <a:ext cx="10515601" cy="8354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Helvetica Neue"/>
              <a:buNone/>
              <a:defRPr sz="3400">
                <a:solidFill>
                  <a:schemeClr val="accent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463993" y="6221731"/>
            <a:ext cx="273607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rgbClr val="EBEBEB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8" id="23" name="Google Shape;2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45775" y="6356351"/>
            <a:ext cx="1093084" cy="40727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7"/>
          <p:cNvSpPr txBox="1"/>
          <p:nvPr>
            <p:ph type="title"/>
          </p:nvPr>
        </p:nvSpPr>
        <p:spPr>
          <a:xfrm>
            <a:off x="2209800" y="437320"/>
            <a:ext cx="7772400" cy="21336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Garamond"/>
              <a:buNone/>
              <a:defRPr b="0" sz="48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1868555" y="2809461"/>
            <a:ext cx="8468141" cy="3233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10244554" y="6414762"/>
            <a:ext cx="25862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rgbClr val="EBEBE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8" id="28" name="Google Shape;2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45775" y="6356351"/>
            <a:ext cx="1093084" cy="40727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18"/>
          <p:cNvSpPr txBox="1"/>
          <p:nvPr>
            <p:ph type="title"/>
          </p:nvPr>
        </p:nvSpPr>
        <p:spPr>
          <a:xfrm>
            <a:off x="1688823" y="126587"/>
            <a:ext cx="8814353" cy="74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1688823" y="1030493"/>
            <a:ext cx="8814353" cy="5211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10244554" y="6414762"/>
            <a:ext cx="25862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2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594303" y="266700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" type="body"/>
          </p:nvPr>
        </p:nvSpPr>
        <p:spPr>
          <a:xfrm>
            <a:off x="582425" y="1768949"/>
            <a:ext cx="10515602" cy="435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20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38" name="Google Shape;38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39" name="Google Shape;39;p20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40" name="Google Shape;40;p20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1" name="Google Shape;41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5400"/>
              <a:buFont typeface="Helvetica Neue"/>
              <a:buNone/>
              <a:defRPr sz="5400">
                <a:solidFill>
                  <a:srgbClr val="7D191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icture 16" id="43" name="Google Shape;43;p20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21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47" name="Google Shape;47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48" name="Google Shape;48;p21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49" name="Google Shape;49;p21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sz="2800"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sz="2800"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sz="2800"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sz="2800"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sz="28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icture 12" id="52" name="Google Shape;52;p21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2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56" name="Google Shape;56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57" name="Google Shape;57;p22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58" name="Google Shape;58;p22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22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icture 8" id="62" name="Google Shape;62;p22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2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23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66" name="Google Shape;66;p2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67" name="Google Shape;67;p23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68" name="Google Shape;68;p23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descr="Picture 4" id="70" name="Google Shape;70;p23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24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74" name="Google Shape;74;p24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75" name="Google Shape;75;p24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76" name="Google Shape;76;p24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Picture 3" id="77" name="Google Shape;77;p24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>
  <p:cSld name="Content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25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81" name="Google Shape;81;p25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82" name="Google Shape;82;p25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83" name="Google Shape;83;p25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" name="Google Shape;84;p25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" type="body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2" type="body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icture 6" id="87" name="Google Shape;87;p25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5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>
  <p:cSld name="Picture with Caption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90;p26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91" name="Google Shape;91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92" name="Google Shape;92;p26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93" name="Google Shape;93;p26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26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95" name="Google Shape;95;p26"/>
          <p:cNvSpPr/>
          <p:nvPr>
            <p:ph idx="2" type="pic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6"/>
          <p:cNvSpPr txBox="1"/>
          <p:nvPr>
            <p:ph idx="1" type="body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icture 6" id="97" name="Google Shape;97;p26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x">
  <p:cSld name="TITLE_AND_BODY">
    <p:bg>
      <p:bgPr>
        <a:solidFill>
          <a:srgbClr val="801B19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g3dbffdb8fb5_14_2321"/>
          <p:cNvGrpSpPr/>
          <p:nvPr/>
        </p:nvGrpSpPr>
        <p:grpSpPr>
          <a:xfrm>
            <a:off x="-4" y="6756398"/>
            <a:ext cx="12192005" cy="105498"/>
            <a:chOff x="-2" y="-1"/>
            <a:chExt cx="12192005" cy="105498"/>
          </a:xfrm>
        </p:grpSpPr>
        <p:pic>
          <p:nvPicPr>
            <p:cNvPr descr="Picture 8" id="110" name="Google Shape;110;g3dbffdb8fb5_14_23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111" name="Google Shape;111;g3dbffdb8fb5_14_2321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19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112" name="Google Shape;112;g3dbffdb8fb5_14_2321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19" cy="10549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Picture 4" id="113" name="Google Shape;113;g3dbffdb8fb5_14_23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2931" y="1479396"/>
            <a:ext cx="4106140" cy="134772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dbffdb8fb5_14_2321"/>
          <p:cNvSpPr txBox="1"/>
          <p:nvPr>
            <p:ph type="title"/>
          </p:nvPr>
        </p:nvSpPr>
        <p:spPr>
          <a:xfrm>
            <a:off x="844150" y="3874808"/>
            <a:ext cx="10515600" cy="8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Helvetica Neue"/>
              <a:buNone/>
              <a:defRPr sz="3400">
                <a:solidFill>
                  <a:schemeClr val="accent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5" name="Google Shape;115;g3dbffdb8fb5_14_2321"/>
          <p:cNvSpPr txBox="1"/>
          <p:nvPr>
            <p:ph idx="12" type="sldNum"/>
          </p:nvPr>
        </p:nvSpPr>
        <p:spPr>
          <a:xfrm>
            <a:off x="8463993" y="6221731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rgbClr val="EBEBEB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8" id="117" name="Google Shape;117;g3dbffdb8fb5_14_23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45775" y="6356351"/>
            <a:ext cx="1093084" cy="40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dbffdb8fb5_14_2329"/>
          <p:cNvSpPr txBox="1"/>
          <p:nvPr>
            <p:ph type="title"/>
          </p:nvPr>
        </p:nvSpPr>
        <p:spPr>
          <a:xfrm>
            <a:off x="2209800" y="43732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Garamond"/>
              <a:buNone/>
              <a:defRPr b="0" sz="48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9" name="Google Shape;119;g3dbffdb8fb5_14_2329"/>
          <p:cNvSpPr txBox="1"/>
          <p:nvPr>
            <p:ph idx="1" type="body"/>
          </p:nvPr>
        </p:nvSpPr>
        <p:spPr>
          <a:xfrm>
            <a:off x="1868555" y="2809461"/>
            <a:ext cx="8468100" cy="3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g3dbffdb8fb5_14_2329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rgbClr val="EBEBEB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8" id="122" name="Google Shape;122;g3dbffdb8fb5_14_23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45775" y="6356351"/>
            <a:ext cx="1093084" cy="40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g3dbffdb8fb5_14_2334"/>
          <p:cNvSpPr txBox="1"/>
          <p:nvPr>
            <p:ph type="title"/>
          </p:nvPr>
        </p:nvSpPr>
        <p:spPr>
          <a:xfrm>
            <a:off x="1688823" y="126587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4" name="Google Shape;124;g3dbffdb8fb5_14_2334"/>
          <p:cNvSpPr txBox="1"/>
          <p:nvPr>
            <p:ph idx="1" type="body"/>
          </p:nvPr>
        </p:nvSpPr>
        <p:spPr>
          <a:xfrm>
            <a:off x="1688823" y="1030493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g3dbffdb8fb5_14_2334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 2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bffdb8fb5_14_2339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8" name="Google Shape;128;g3dbffdb8fb5_14_2339"/>
          <p:cNvSpPr txBox="1"/>
          <p:nvPr>
            <p:ph idx="1" type="body"/>
          </p:nvPr>
        </p:nvSpPr>
        <p:spPr>
          <a:xfrm>
            <a:off x="582425" y="176894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g3dbffdb8fb5_14_2339"/>
          <p:cNvSpPr txBox="1"/>
          <p:nvPr>
            <p:ph idx="12" type="sldNum"/>
          </p:nvPr>
        </p:nvSpPr>
        <p:spPr>
          <a:xfrm>
            <a:off x="11080191" y="6338768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Header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g3dbffdb8fb5_14_2343"/>
          <p:cNvGrpSpPr/>
          <p:nvPr/>
        </p:nvGrpSpPr>
        <p:grpSpPr>
          <a:xfrm>
            <a:off x="-4" y="6756398"/>
            <a:ext cx="12192005" cy="105498"/>
            <a:chOff x="-2" y="-1"/>
            <a:chExt cx="12192005" cy="105498"/>
          </a:xfrm>
        </p:grpSpPr>
        <p:pic>
          <p:nvPicPr>
            <p:cNvPr descr="Picture 8" id="132" name="Google Shape;132;g3dbffdb8fb5_14_234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133" name="Google Shape;133;g3dbffdb8fb5_14_2343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19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134" name="Google Shape;134;g3dbffdb8fb5_14_2343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19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5" name="Google Shape;135;g3dbffdb8fb5_14_2343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D1916"/>
              </a:buClr>
              <a:buSzPts val="5400"/>
              <a:buFont typeface="Helvetica Neue"/>
              <a:buNone/>
              <a:defRPr sz="5400">
                <a:solidFill>
                  <a:srgbClr val="7D1916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6" name="Google Shape;136;g3dbffdb8fb5_14_2343"/>
          <p:cNvSpPr txBox="1"/>
          <p:nvPr>
            <p:ph idx="1" type="body"/>
          </p:nvPr>
        </p:nvSpPr>
        <p:spPr>
          <a:xfrm>
            <a:off x="831850" y="4589462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icture 16" id="137" name="Google Shape;137;g3dbffdb8fb5_14_2343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3" cy="59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dbffdb8fb5_14_2343"/>
          <p:cNvSpPr txBox="1"/>
          <p:nvPr>
            <p:ph idx="12" type="sldNum"/>
          </p:nvPr>
        </p:nvSpPr>
        <p:spPr>
          <a:xfrm>
            <a:off x="11080191" y="6338768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g3dbffdb8fb5_14_2352"/>
          <p:cNvGrpSpPr/>
          <p:nvPr/>
        </p:nvGrpSpPr>
        <p:grpSpPr>
          <a:xfrm>
            <a:off x="-4" y="6756398"/>
            <a:ext cx="12192005" cy="105498"/>
            <a:chOff x="-2" y="-1"/>
            <a:chExt cx="12192005" cy="105498"/>
          </a:xfrm>
        </p:grpSpPr>
        <p:pic>
          <p:nvPicPr>
            <p:cNvPr descr="Picture 8" id="141" name="Google Shape;141;g3dbffdb8fb5_14_235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142" name="Google Shape;142;g3dbffdb8fb5_14_2352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19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143" name="Google Shape;143;g3dbffdb8fb5_14_2352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19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144;g3dbffdb8fb5_14_235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5" name="Google Shape;145;g3dbffdb8fb5_14_2352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sz="2800"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sz="2800"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sz="2800"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sz="2800"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 Light"/>
              <a:buChar char="•"/>
              <a:defRPr sz="28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icture 12" id="146" name="Google Shape;146;g3dbffdb8fb5_14_2352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3" cy="59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dbffdb8fb5_14_2352"/>
          <p:cNvSpPr txBox="1"/>
          <p:nvPr>
            <p:ph idx="12" type="sldNum"/>
          </p:nvPr>
        </p:nvSpPr>
        <p:spPr>
          <a:xfrm>
            <a:off x="11080191" y="6338768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>
  <p:cSld name="Comparison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g3dbffdb8fb5_14_2361"/>
          <p:cNvGrpSpPr/>
          <p:nvPr/>
        </p:nvGrpSpPr>
        <p:grpSpPr>
          <a:xfrm>
            <a:off x="-4" y="6756398"/>
            <a:ext cx="12192005" cy="105498"/>
            <a:chOff x="-2" y="-1"/>
            <a:chExt cx="12192005" cy="105498"/>
          </a:xfrm>
        </p:grpSpPr>
        <p:pic>
          <p:nvPicPr>
            <p:cNvPr descr="Picture 8" id="150" name="Google Shape;150;g3dbffdb8fb5_14_236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151" name="Google Shape;151;g3dbffdb8fb5_14_2361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19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152" name="Google Shape;152;g3dbffdb8fb5_14_2361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19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Google Shape;153;g3dbffdb8fb5_14_2361"/>
          <p:cNvSpPr txBox="1"/>
          <p:nvPr>
            <p:ph type="title"/>
          </p:nvPr>
        </p:nvSpPr>
        <p:spPr>
          <a:xfrm>
            <a:off x="839787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4" name="Google Shape;154;g3dbffdb8fb5_14_2361"/>
          <p:cNvSpPr txBox="1"/>
          <p:nvPr>
            <p:ph idx="1" type="body"/>
          </p:nvPr>
        </p:nvSpPr>
        <p:spPr>
          <a:xfrm>
            <a:off x="839787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g3dbffdb8fb5_14_2361"/>
          <p:cNvSpPr txBox="1"/>
          <p:nvPr>
            <p:ph idx="2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icture 8" id="156" name="Google Shape;156;g3dbffdb8fb5_14_2361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3" cy="59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dbffdb8fb5_14_2361"/>
          <p:cNvSpPr txBox="1"/>
          <p:nvPr>
            <p:ph idx="12" type="sldNum"/>
          </p:nvPr>
        </p:nvSpPr>
        <p:spPr>
          <a:xfrm>
            <a:off x="11080191" y="6338768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g3dbffdb8fb5_14_2371"/>
          <p:cNvGrpSpPr/>
          <p:nvPr/>
        </p:nvGrpSpPr>
        <p:grpSpPr>
          <a:xfrm>
            <a:off x="-4" y="6756398"/>
            <a:ext cx="12192005" cy="105498"/>
            <a:chOff x="-2" y="-1"/>
            <a:chExt cx="12192005" cy="105498"/>
          </a:xfrm>
        </p:grpSpPr>
        <p:pic>
          <p:nvPicPr>
            <p:cNvPr descr="Picture 8" id="160" name="Google Shape;160;g3dbffdb8fb5_14_237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161" name="Google Shape;161;g3dbffdb8fb5_14_2371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19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162" name="Google Shape;162;g3dbffdb8fb5_14_2371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19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g3dbffdb8fb5_14_237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pic>
        <p:nvPicPr>
          <p:cNvPr descr="Picture 4" id="164" name="Google Shape;164;g3dbffdb8fb5_14_2371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3" cy="59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dbffdb8fb5_14_2371"/>
          <p:cNvSpPr txBox="1"/>
          <p:nvPr>
            <p:ph idx="12" type="sldNum"/>
          </p:nvPr>
        </p:nvSpPr>
        <p:spPr>
          <a:xfrm>
            <a:off x="11080191" y="6338768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g3dbffdb8fb5_14_2379"/>
          <p:cNvGrpSpPr/>
          <p:nvPr/>
        </p:nvGrpSpPr>
        <p:grpSpPr>
          <a:xfrm>
            <a:off x="-4" y="6756398"/>
            <a:ext cx="12192005" cy="105498"/>
            <a:chOff x="-2" y="-1"/>
            <a:chExt cx="12192005" cy="105498"/>
          </a:xfrm>
        </p:grpSpPr>
        <p:pic>
          <p:nvPicPr>
            <p:cNvPr descr="Picture 8" id="168" name="Google Shape;168;g3dbffdb8fb5_14_237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169" name="Google Shape;169;g3dbffdb8fb5_14_2379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19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170" name="Google Shape;170;g3dbffdb8fb5_14_2379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19" cy="10549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Picture 3" id="171" name="Google Shape;171;g3dbffdb8fb5_14_2379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3" cy="59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dbffdb8fb5_14_2379"/>
          <p:cNvSpPr txBox="1"/>
          <p:nvPr>
            <p:ph idx="12" type="sldNum"/>
          </p:nvPr>
        </p:nvSpPr>
        <p:spPr>
          <a:xfrm>
            <a:off x="11080191" y="6338768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>
  <p:cSld name="Content with Caption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g3dbffdb8fb5_14_2386"/>
          <p:cNvGrpSpPr/>
          <p:nvPr/>
        </p:nvGrpSpPr>
        <p:grpSpPr>
          <a:xfrm>
            <a:off x="-4" y="6756398"/>
            <a:ext cx="12192005" cy="105498"/>
            <a:chOff x="-2" y="-1"/>
            <a:chExt cx="12192005" cy="105498"/>
          </a:xfrm>
        </p:grpSpPr>
        <p:pic>
          <p:nvPicPr>
            <p:cNvPr descr="Picture 8" id="175" name="Google Shape;175;g3dbffdb8fb5_14_238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176" name="Google Shape;176;g3dbffdb8fb5_14_2386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19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177" name="Google Shape;177;g3dbffdb8fb5_14_2386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19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g3dbffdb8fb5_14_2386"/>
          <p:cNvSpPr txBox="1"/>
          <p:nvPr>
            <p:ph type="title"/>
          </p:nvPr>
        </p:nvSpPr>
        <p:spPr>
          <a:xfrm>
            <a:off x="839787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9" name="Google Shape;179;g3dbffdb8fb5_14_2386"/>
          <p:cNvSpPr txBox="1"/>
          <p:nvPr>
            <p:ph idx="1" type="body"/>
          </p:nvPr>
        </p:nvSpPr>
        <p:spPr>
          <a:xfrm>
            <a:off x="5183187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g3dbffdb8fb5_14_2386"/>
          <p:cNvSpPr txBox="1"/>
          <p:nvPr>
            <p:ph idx="2" type="body"/>
          </p:nvPr>
        </p:nvSpPr>
        <p:spPr>
          <a:xfrm>
            <a:off x="839787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icture 6" id="181" name="Google Shape;181;g3dbffdb8fb5_14_2386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3" cy="59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dbffdb8fb5_14_2386"/>
          <p:cNvSpPr txBox="1"/>
          <p:nvPr>
            <p:ph idx="12" type="sldNum"/>
          </p:nvPr>
        </p:nvSpPr>
        <p:spPr>
          <a:xfrm>
            <a:off x="11080191" y="6338768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>
  <p:cSld name="Picture with Caption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g3dbffdb8fb5_14_2396"/>
          <p:cNvGrpSpPr/>
          <p:nvPr/>
        </p:nvGrpSpPr>
        <p:grpSpPr>
          <a:xfrm>
            <a:off x="-4" y="6756398"/>
            <a:ext cx="12192005" cy="105498"/>
            <a:chOff x="-2" y="-1"/>
            <a:chExt cx="12192005" cy="105498"/>
          </a:xfrm>
        </p:grpSpPr>
        <p:pic>
          <p:nvPicPr>
            <p:cNvPr descr="Picture 8" id="185" name="Google Shape;185;g3dbffdb8fb5_14_239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524000" y="0"/>
              <a:ext cx="9144000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186" name="Google Shape;186;g3dbffdb8fb5_14_2396"/>
            <p:cNvPicPr preferRelativeResize="0"/>
            <p:nvPr/>
          </p:nvPicPr>
          <p:blipFill rotWithShape="1">
            <a:blip r:embed="rId2">
              <a:alphaModFix/>
            </a:blip>
            <a:srcRect b="15584" l="0" r="71580" t="0"/>
            <a:stretch/>
          </p:blipFill>
          <p:spPr>
            <a:xfrm>
              <a:off x="-2" y="-1"/>
              <a:ext cx="2598719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187" name="Google Shape;187;g3dbffdb8fb5_14_2396"/>
            <p:cNvPicPr preferRelativeResize="0"/>
            <p:nvPr/>
          </p:nvPicPr>
          <p:blipFill rotWithShape="1">
            <a:blip r:embed="rId2">
              <a:alphaModFix/>
            </a:blip>
            <a:srcRect b="15583" l="0" r="71580" t="0"/>
            <a:stretch/>
          </p:blipFill>
          <p:spPr>
            <a:xfrm>
              <a:off x="9593284" y="-1"/>
              <a:ext cx="2598719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8" name="Google Shape;188;g3dbffdb8fb5_14_2396"/>
          <p:cNvSpPr txBox="1"/>
          <p:nvPr>
            <p:ph type="title"/>
          </p:nvPr>
        </p:nvSpPr>
        <p:spPr>
          <a:xfrm>
            <a:off x="839787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89" name="Google Shape;189;g3dbffdb8fb5_14_2396"/>
          <p:cNvSpPr/>
          <p:nvPr>
            <p:ph idx="2" type="pic"/>
          </p:nvPr>
        </p:nvSpPr>
        <p:spPr>
          <a:xfrm>
            <a:off x="5183187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g3dbffdb8fb5_14_2396"/>
          <p:cNvSpPr txBox="1"/>
          <p:nvPr>
            <p:ph idx="1" type="body"/>
          </p:nvPr>
        </p:nvSpPr>
        <p:spPr>
          <a:xfrm>
            <a:off x="839787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Helvetica Neue Light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icture 6" id="191" name="Google Shape;191;g3dbffdb8fb5_14_2396"/>
          <p:cNvPicPr preferRelativeResize="0"/>
          <p:nvPr/>
        </p:nvPicPr>
        <p:blipFill rotWithShape="1">
          <a:blip r:embed="rId3">
            <a:alphaModFix/>
          </a:blip>
          <a:srcRect b="38396" l="29654" r="29480" t="38311"/>
          <a:stretch/>
        </p:blipFill>
        <p:spPr>
          <a:xfrm>
            <a:off x="358812" y="6038946"/>
            <a:ext cx="1365813" cy="59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g3dbffdb8fb5_14_2396"/>
          <p:cNvSpPr txBox="1"/>
          <p:nvPr>
            <p:ph idx="12" type="sldNum"/>
          </p:nvPr>
        </p:nvSpPr>
        <p:spPr>
          <a:xfrm>
            <a:off x="11080191" y="6338768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 (g3e7a31fe098_40_0)">
    <p:bg>
      <p:bgPr>
        <a:solidFill>
          <a:srgbClr val="EBEBEB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bffdb8fb5_14_2406"/>
          <p:cNvSpPr txBox="1"/>
          <p:nvPr>
            <p:ph type="title"/>
          </p:nvPr>
        </p:nvSpPr>
        <p:spPr>
          <a:xfrm>
            <a:off x="1688823" y="126587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5" name="Google Shape;195;g3dbffdb8fb5_14_2406"/>
          <p:cNvSpPr txBox="1"/>
          <p:nvPr>
            <p:ph idx="1" type="body"/>
          </p:nvPr>
        </p:nvSpPr>
        <p:spPr>
          <a:xfrm>
            <a:off x="1688823" y="1030493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g3dbffdb8fb5_14_2406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showMasterSp="0">
  <p:cSld name="Title and Content (g3e79784054a_247_0)">
    <p:bg>
      <p:bgPr>
        <a:solidFill>
          <a:srgbClr val="EBEBEB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bffdb8fb5_14_2410"/>
          <p:cNvSpPr txBox="1"/>
          <p:nvPr>
            <p:ph type="title"/>
          </p:nvPr>
        </p:nvSpPr>
        <p:spPr>
          <a:xfrm>
            <a:off x="1688823" y="126587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9" name="Google Shape;199;g3dbffdb8fb5_14_2410"/>
          <p:cNvSpPr txBox="1"/>
          <p:nvPr>
            <p:ph idx="1" type="body"/>
          </p:nvPr>
        </p:nvSpPr>
        <p:spPr>
          <a:xfrm>
            <a:off x="1688823" y="1030493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g3dbffdb8fb5_14_2410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" showMasterSp="0">
  <p:cSld name="Title and Content (g3e79784054a_233_0)">
    <p:bg>
      <p:bgPr>
        <a:solidFill>
          <a:srgbClr val="EBEBEB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bffdb8fb5_14_2414"/>
          <p:cNvSpPr txBox="1"/>
          <p:nvPr>
            <p:ph type="title"/>
          </p:nvPr>
        </p:nvSpPr>
        <p:spPr>
          <a:xfrm>
            <a:off x="1688823" y="126587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3" name="Google Shape;203;g3dbffdb8fb5_14_2414"/>
          <p:cNvSpPr txBox="1"/>
          <p:nvPr>
            <p:ph idx="1" type="body"/>
          </p:nvPr>
        </p:nvSpPr>
        <p:spPr>
          <a:xfrm>
            <a:off x="1688823" y="1030493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g3dbffdb8fb5_14_2414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 1" showMasterSp="0">
  <p:cSld name="Title and Content (g3e79784054a_198_0)">
    <p:bg>
      <p:bgPr>
        <a:solidFill>
          <a:srgbClr val="EBEBE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bffdb8fb5_14_2418"/>
          <p:cNvSpPr txBox="1"/>
          <p:nvPr>
            <p:ph type="title"/>
          </p:nvPr>
        </p:nvSpPr>
        <p:spPr>
          <a:xfrm>
            <a:off x="1688823" y="126587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07" name="Google Shape;207;g3dbffdb8fb5_14_2418"/>
          <p:cNvSpPr txBox="1"/>
          <p:nvPr>
            <p:ph idx="1" type="body"/>
          </p:nvPr>
        </p:nvSpPr>
        <p:spPr>
          <a:xfrm>
            <a:off x="1688823" y="1030493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g3dbffdb8fb5_14_2418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 1 1" showMasterSp="0">
  <p:cSld name="Title and Content (g3e79784054a_170_0)">
    <p:bg>
      <p:bgPr>
        <a:solidFill>
          <a:srgbClr val="EBEBEB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bffdb8fb5_14_2422"/>
          <p:cNvSpPr txBox="1"/>
          <p:nvPr>
            <p:ph type="title"/>
          </p:nvPr>
        </p:nvSpPr>
        <p:spPr>
          <a:xfrm>
            <a:off x="1688823" y="126587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1" name="Google Shape;211;g3dbffdb8fb5_14_2422"/>
          <p:cNvSpPr txBox="1"/>
          <p:nvPr>
            <p:ph idx="1" type="body"/>
          </p:nvPr>
        </p:nvSpPr>
        <p:spPr>
          <a:xfrm>
            <a:off x="1688823" y="1030493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g3dbffdb8fb5_14_2422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 1 1 1" showMasterSp="0">
  <p:cSld name="Title and Content (g3e79784054a_163_0)">
    <p:bg>
      <p:bgPr>
        <a:solidFill>
          <a:srgbClr val="EBEBEB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bffdb8fb5_14_2426"/>
          <p:cNvSpPr txBox="1"/>
          <p:nvPr>
            <p:ph type="title"/>
          </p:nvPr>
        </p:nvSpPr>
        <p:spPr>
          <a:xfrm>
            <a:off x="1688823" y="126587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5" name="Google Shape;215;g3dbffdb8fb5_14_2426"/>
          <p:cNvSpPr txBox="1"/>
          <p:nvPr>
            <p:ph idx="1" type="body"/>
          </p:nvPr>
        </p:nvSpPr>
        <p:spPr>
          <a:xfrm>
            <a:off x="1688823" y="1030493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6" name="Google Shape;216;g3dbffdb8fb5_14_2426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 1 1 1 1" showMasterSp="0">
  <p:cSld name="Title and Content (g3e79784054a_142_0)">
    <p:bg>
      <p:bgPr>
        <a:solidFill>
          <a:srgbClr val="EBEBEB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bffdb8fb5_14_2430"/>
          <p:cNvSpPr txBox="1"/>
          <p:nvPr>
            <p:ph type="title"/>
          </p:nvPr>
        </p:nvSpPr>
        <p:spPr>
          <a:xfrm>
            <a:off x="1688823" y="126587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9" name="Google Shape;219;g3dbffdb8fb5_14_2430"/>
          <p:cNvSpPr txBox="1"/>
          <p:nvPr>
            <p:ph idx="1" type="body"/>
          </p:nvPr>
        </p:nvSpPr>
        <p:spPr>
          <a:xfrm>
            <a:off x="1688823" y="1030493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g3dbffdb8fb5_14_2430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 1 1 1 1 1" showMasterSp="0">
  <p:cSld name="Title and Content (g3e79784054a_135_0)">
    <p:bg>
      <p:bgPr>
        <a:solidFill>
          <a:srgbClr val="EBEBEB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bffdb8fb5_14_2434"/>
          <p:cNvSpPr txBox="1"/>
          <p:nvPr>
            <p:ph type="title"/>
          </p:nvPr>
        </p:nvSpPr>
        <p:spPr>
          <a:xfrm>
            <a:off x="1688823" y="126587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23" name="Google Shape;223;g3dbffdb8fb5_14_2434"/>
          <p:cNvSpPr txBox="1"/>
          <p:nvPr>
            <p:ph idx="1" type="body"/>
          </p:nvPr>
        </p:nvSpPr>
        <p:spPr>
          <a:xfrm>
            <a:off x="1688823" y="1030493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g3dbffdb8fb5_14_2434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 1 1 1 1 1 1" showMasterSp="0">
  <p:cSld name="Title and Content (g3e79784054a_128_0)">
    <p:bg>
      <p:bgPr>
        <a:solidFill>
          <a:srgbClr val="EBEBEB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bffdb8fb5_14_2438"/>
          <p:cNvSpPr txBox="1"/>
          <p:nvPr>
            <p:ph type="title"/>
          </p:nvPr>
        </p:nvSpPr>
        <p:spPr>
          <a:xfrm>
            <a:off x="1688823" y="126587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27" name="Google Shape;227;g3dbffdb8fb5_14_2438"/>
          <p:cNvSpPr txBox="1"/>
          <p:nvPr>
            <p:ph idx="1" type="body"/>
          </p:nvPr>
        </p:nvSpPr>
        <p:spPr>
          <a:xfrm>
            <a:off x="1688823" y="1030493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g3dbffdb8fb5_14_2438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 1 1 1 1 1 1 1" showMasterSp="0">
  <p:cSld name="Title and Content (g3e79784054a_121_0)">
    <p:bg>
      <p:bgPr>
        <a:solidFill>
          <a:srgbClr val="EBEBEB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bffdb8fb5_14_2442"/>
          <p:cNvSpPr txBox="1"/>
          <p:nvPr>
            <p:ph type="title"/>
          </p:nvPr>
        </p:nvSpPr>
        <p:spPr>
          <a:xfrm>
            <a:off x="1688823" y="126587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1" name="Google Shape;231;g3dbffdb8fb5_14_2442"/>
          <p:cNvSpPr txBox="1"/>
          <p:nvPr>
            <p:ph idx="1" type="body"/>
          </p:nvPr>
        </p:nvSpPr>
        <p:spPr>
          <a:xfrm>
            <a:off x="1688823" y="1030493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g3dbffdb8fb5_14_2442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 1 1 1 1 1 1 1 1" showMasterSp="0">
  <p:cSld name="Title and Content (g3e79784054a_92_0)">
    <p:bg>
      <p:bgPr>
        <a:solidFill>
          <a:srgbClr val="EBEBE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bffdb8fb5_14_2446"/>
          <p:cNvSpPr txBox="1"/>
          <p:nvPr>
            <p:ph type="title"/>
          </p:nvPr>
        </p:nvSpPr>
        <p:spPr>
          <a:xfrm>
            <a:off x="1688823" y="126587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5" name="Google Shape;235;g3dbffdb8fb5_14_2446"/>
          <p:cNvSpPr txBox="1"/>
          <p:nvPr>
            <p:ph idx="1" type="body"/>
          </p:nvPr>
        </p:nvSpPr>
        <p:spPr>
          <a:xfrm>
            <a:off x="1688823" y="1030493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g3dbffdb8fb5_14_2446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 1 1 1 1 1 1 1 1 1" showMasterSp="0">
  <p:cSld name="Title and Content (g3e79784054a_78_0)">
    <p:bg>
      <p:bgPr>
        <a:solidFill>
          <a:srgbClr val="EBEBEB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bffdb8fb5_14_2450"/>
          <p:cNvSpPr txBox="1"/>
          <p:nvPr>
            <p:ph type="title"/>
          </p:nvPr>
        </p:nvSpPr>
        <p:spPr>
          <a:xfrm>
            <a:off x="1688823" y="126587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9" name="Google Shape;239;g3dbffdb8fb5_14_2450"/>
          <p:cNvSpPr txBox="1"/>
          <p:nvPr>
            <p:ph idx="1" type="body"/>
          </p:nvPr>
        </p:nvSpPr>
        <p:spPr>
          <a:xfrm>
            <a:off x="1688823" y="1030493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" name="Google Shape;240;g3dbffdb8fb5_14_2450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 1 1 1 1 1 1 1 1 1 1" showMasterSp="0">
  <p:cSld name="Title and Content (g3e79784054a_44_0)">
    <p:bg>
      <p:bgPr>
        <a:solidFill>
          <a:srgbClr val="EBEBEB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bffdb8fb5_14_2454"/>
          <p:cNvSpPr txBox="1"/>
          <p:nvPr>
            <p:ph type="title"/>
          </p:nvPr>
        </p:nvSpPr>
        <p:spPr>
          <a:xfrm>
            <a:off x="1688823" y="126587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43" name="Google Shape;243;g3dbffdb8fb5_14_2454"/>
          <p:cNvSpPr txBox="1"/>
          <p:nvPr>
            <p:ph idx="1" type="body"/>
          </p:nvPr>
        </p:nvSpPr>
        <p:spPr>
          <a:xfrm>
            <a:off x="1688823" y="1030493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4" name="Google Shape;244;g3dbffdb8fb5_14_2454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 1 1 1 1 1 1 1 1 1 1 1 1" showMasterSp="0">
  <p:cSld name="Title and Content (g3e79784054a_30_0)">
    <p:bg>
      <p:bgPr>
        <a:solidFill>
          <a:srgbClr val="EBEBEB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bffdb8fb5_14_2458"/>
          <p:cNvSpPr txBox="1"/>
          <p:nvPr>
            <p:ph type="title"/>
          </p:nvPr>
        </p:nvSpPr>
        <p:spPr>
          <a:xfrm>
            <a:off x="1688823" y="126587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Garamond"/>
              <a:buNone/>
              <a:defRPr b="0" sz="44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47" name="Google Shape;247;g3dbffdb8fb5_14_2458"/>
          <p:cNvSpPr txBox="1"/>
          <p:nvPr>
            <p:ph idx="1" type="body"/>
          </p:nvPr>
        </p:nvSpPr>
        <p:spPr>
          <a:xfrm>
            <a:off x="1688823" y="1030493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sz="2800"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8" name="Google Shape;248;g3dbffdb8fb5_14_2458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showMasterSp="0">
  <p:cSld name="Title Slide (g3dbde0d0470_7_0)">
    <p:bg>
      <p:bgPr>
        <a:solidFill>
          <a:srgbClr val="EBEBEB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bffdb8fb5_14_2462"/>
          <p:cNvSpPr txBox="1"/>
          <p:nvPr>
            <p:ph type="title"/>
          </p:nvPr>
        </p:nvSpPr>
        <p:spPr>
          <a:xfrm>
            <a:off x="2209800" y="43732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Garamond"/>
              <a:buNone/>
              <a:defRPr b="0" sz="48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1" name="Google Shape;251;g3dbffdb8fb5_14_2462"/>
          <p:cNvSpPr txBox="1"/>
          <p:nvPr>
            <p:ph idx="1" type="body"/>
          </p:nvPr>
        </p:nvSpPr>
        <p:spPr>
          <a:xfrm>
            <a:off x="1868555" y="2809461"/>
            <a:ext cx="8468100" cy="3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None/>
              <a:defRPr>
                <a:latin typeface="Garamond"/>
                <a:ea typeface="Garamond"/>
                <a:cs typeface="Garamond"/>
                <a:sym typeface="Garamond"/>
              </a:defRPr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2" name="Google Shape;252;g3dbffdb8fb5_14_2462"/>
          <p:cNvSpPr txBox="1"/>
          <p:nvPr>
            <p:ph idx="12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80808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33.xml"/><Relationship Id="rId23" Type="http://schemas.openxmlformats.org/officeDocument/2006/relationships/slideLayout" Target="../slideLayouts/slideLayout32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35.xml"/><Relationship Id="rId25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5"/>
          <p:cNvGrpSpPr/>
          <p:nvPr/>
        </p:nvGrpSpPr>
        <p:grpSpPr>
          <a:xfrm>
            <a:off x="-4" y="6756398"/>
            <a:ext cx="12192008" cy="105499"/>
            <a:chOff x="-2" y="-1"/>
            <a:chExt cx="12192006" cy="105498"/>
          </a:xfrm>
        </p:grpSpPr>
        <p:pic>
          <p:nvPicPr>
            <p:cNvPr descr="Picture 8" id="7" name="Google Shape;7;p15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0"/>
              <a:ext cx="9144002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8" name="Google Shape;8;p15"/>
            <p:cNvPicPr preferRelativeResize="0"/>
            <p:nvPr/>
          </p:nvPicPr>
          <p:blipFill rotWithShape="1">
            <a:blip r:embed="rId1">
              <a:alphaModFix/>
            </a:blip>
            <a:srcRect b="15584" l="0" r="71580" t="0"/>
            <a:stretch/>
          </p:blipFill>
          <p:spPr>
            <a:xfrm>
              <a:off x="-2" y="-1"/>
              <a:ext cx="2598720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9" name="Google Shape;9;p15"/>
            <p:cNvPicPr preferRelativeResize="0"/>
            <p:nvPr/>
          </p:nvPicPr>
          <p:blipFill rotWithShape="1">
            <a:blip r:embed="rId1">
              <a:alphaModFix/>
            </a:blip>
            <a:srcRect b="15583" l="0" r="71580" t="0"/>
            <a:stretch/>
          </p:blipFill>
          <p:spPr>
            <a:xfrm>
              <a:off x="9593284" y="-1"/>
              <a:ext cx="2598720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Google Shape;10;p15"/>
          <p:cNvSpPr txBox="1"/>
          <p:nvPr>
            <p:ph type="title"/>
          </p:nvPr>
        </p:nvSpPr>
        <p:spPr>
          <a:xfrm>
            <a:off x="594303" y="266700"/>
            <a:ext cx="105156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582425" y="1768949"/>
            <a:ext cx="10515602" cy="4351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pic>
        <p:nvPicPr>
          <p:cNvPr descr="Picture 16" id="12" name="Google Shape;12;p15"/>
          <p:cNvPicPr preferRelativeResize="0"/>
          <p:nvPr/>
        </p:nvPicPr>
        <p:blipFill rotWithShape="1">
          <a:blip r:embed="rId2">
            <a:alphaModFix/>
          </a:blip>
          <a:srcRect b="38396" l="29654" r="29480" t="38311"/>
          <a:stretch/>
        </p:blipFill>
        <p:spPr>
          <a:xfrm>
            <a:off x="358812" y="6038946"/>
            <a:ext cx="1365815" cy="59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5"/>
          <p:cNvSpPr txBox="1"/>
          <p:nvPr>
            <p:ph idx="12" type="sldNum"/>
          </p:nvPr>
        </p:nvSpPr>
        <p:spPr>
          <a:xfrm>
            <a:off x="11080191" y="6338768"/>
            <a:ext cx="273608" cy="269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1EE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g3dbffdb8fb5_14_2312"/>
          <p:cNvGrpSpPr/>
          <p:nvPr/>
        </p:nvGrpSpPr>
        <p:grpSpPr>
          <a:xfrm>
            <a:off x="-4" y="6756398"/>
            <a:ext cx="12192005" cy="105498"/>
            <a:chOff x="-2" y="-1"/>
            <a:chExt cx="12192005" cy="105498"/>
          </a:xfrm>
        </p:grpSpPr>
        <p:pic>
          <p:nvPicPr>
            <p:cNvPr descr="Picture 8" id="101" name="Google Shape;101;g3dbffdb8fb5_14_2312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0"/>
              <a:ext cx="9144000" cy="101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0" id="102" name="Google Shape;102;g3dbffdb8fb5_14_2312"/>
            <p:cNvPicPr preferRelativeResize="0"/>
            <p:nvPr/>
          </p:nvPicPr>
          <p:blipFill rotWithShape="1">
            <a:blip r:embed="rId1">
              <a:alphaModFix/>
            </a:blip>
            <a:srcRect b="15584" l="0" r="71580" t="0"/>
            <a:stretch/>
          </p:blipFill>
          <p:spPr>
            <a:xfrm>
              <a:off x="-2" y="-1"/>
              <a:ext cx="2598719" cy="10160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Picture 11" id="103" name="Google Shape;103;g3dbffdb8fb5_14_2312"/>
            <p:cNvPicPr preferRelativeResize="0"/>
            <p:nvPr/>
          </p:nvPicPr>
          <p:blipFill rotWithShape="1">
            <a:blip r:embed="rId1">
              <a:alphaModFix/>
            </a:blip>
            <a:srcRect b="15583" l="0" r="71580" t="0"/>
            <a:stretch/>
          </p:blipFill>
          <p:spPr>
            <a:xfrm>
              <a:off x="9593284" y="-1"/>
              <a:ext cx="2598719" cy="1054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4" name="Google Shape;104;g3dbffdb8fb5_14_2312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05" name="Google Shape;105;g3dbffdb8fb5_14_2312"/>
          <p:cNvSpPr txBox="1"/>
          <p:nvPr>
            <p:ph idx="1" type="body"/>
          </p:nvPr>
        </p:nvSpPr>
        <p:spPr>
          <a:xfrm>
            <a:off x="582425" y="176894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810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-3810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-3810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-3810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/>
        </p:txBody>
      </p:sp>
      <p:pic>
        <p:nvPicPr>
          <p:cNvPr descr="Picture 16" id="106" name="Google Shape;106;g3dbffdb8fb5_14_2312"/>
          <p:cNvPicPr preferRelativeResize="0"/>
          <p:nvPr/>
        </p:nvPicPr>
        <p:blipFill rotWithShape="1">
          <a:blip r:embed="rId2">
            <a:alphaModFix/>
          </a:blip>
          <a:srcRect b="38396" l="29654" r="29480" t="38311"/>
          <a:stretch/>
        </p:blipFill>
        <p:spPr>
          <a:xfrm>
            <a:off x="358812" y="6038946"/>
            <a:ext cx="1365813" cy="59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dbffdb8fb5_14_2312"/>
          <p:cNvSpPr txBox="1"/>
          <p:nvPr>
            <p:ph idx="12" type="sldNum"/>
          </p:nvPr>
        </p:nvSpPr>
        <p:spPr>
          <a:xfrm>
            <a:off x="11080191" y="6338768"/>
            <a:ext cx="27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200"/>
              <a:buFont typeface="Helvetica Neue Light"/>
              <a:buNone/>
              <a:defRPr b="0" i="0" sz="1200" u="none" cap="none" strike="noStrike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hyperlink" Target="https://yunikorn.apache.org/" TargetMode="External"/><Relationship Id="rId9" Type="http://schemas.openxmlformats.org/officeDocument/2006/relationships/image" Target="../media/image15.png"/><Relationship Id="rId5" Type="http://schemas.openxmlformats.org/officeDocument/2006/relationships/hyperlink" Target="https://kubernetes.io/" TargetMode="External"/><Relationship Id="rId6" Type="http://schemas.openxmlformats.org/officeDocument/2006/relationships/image" Target="../media/image39.png"/><Relationship Id="rId7" Type="http://schemas.openxmlformats.org/officeDocument/2006/relationships/image" Target="../media/image38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46.png"/><Relationship Id="rId6" Type="http://schemas.openxmlformats.org/officeDocument/2006/relationships/image" Target="../media/image29.png"/><Relationship Id="rId7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4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Relationship Id="rId4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drive.google.com/file/d/1huSU4L5kC_ovuHbvrX9UMrtEcHMVDEkZ/view" TargetMode="External"/><Relationship Id="rId4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hyperlink" Target="http://github.com/checkpoint-restore/criu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arxiv.org/abs/2501.01007" TargetMode="External"/><Relationship Id="rId4" Type="http://schemas.openxmlformats.org/officeDocument/2006/relationships/hyperlink" Target="https://arxiv.org/abs/1707.06347" TargetMode="External"/><Relationship Id="rId5" Type="http://schemas.openxmlformats.org/officeDocument/2006/relationships/hyperlink" Target="https://github.com/alibaba/clusterdata" TargetMode="External"/><Relationship Id="rId6" Type="http://schemas.openxmlformats.org/officeDocument/2006/relationships/hyperlink" Target="https://yunikorn.apache.org/" TargetMode="External"/><Relationship Id="rId7" Type="http://schemas.openxmlformats.org/officeDocument/2006/relationships/hyperlink" Target="https://kubernetes.io/docs/home/" TargetMode="External"/><Relationship Id="rId8" Type="http://schemas.openxmlformats.org/officeDocument/2006/relationships/hyperlink" Target="https://criu.org/Main_Page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"/>
          <p:cNvSpPr txBox="1"/>
          <p:nvPr>
            <p:ph type="title"/>
          </p:nvPr>
        </p:nvSpPr>
        <p:spPr>
          <a:xfrm>
            <a:off x="844150" y="3874808"/>
            <a:ext cx="10515601" cy="2338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Helvetica Neue"/>
              <a:buNone/>
            </a:pPr>
            <a:r>
              <a:rPr lang="en-US" sz="4400"/>
              <a:t>ENR497: B.Tech. Engg. Project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Helvetica Neue"/>
              <a:buNone/>
            </a:pPr>
            <a:r>
              <a:t/>
            </a:r>
            <a:endParaRPr sz="4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Helvetica Neue"/>
              <a:buNone/>
            </a:pPr>
            <a:r>
              <a:rPr lang="en-US" sz="2400"/>
              <a:t>School of Engineering &amp; Applied Science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Helvetica Neue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Helvetica Neue"/>
              <a:buNone/>
            </a:pPr>
            <a:r>
              <a:rPr lang="en-US" sz="2400"/>
              <a:t>(Winter 2026)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"/>
          <p:cNvPicPr preferRelativeResize="0"/>
          <p:nvPr/>
        </p:nvPicPr>
        <p:blipFill rotWithShape="1">
          <a:blip r:embed="rId4">
            <a:alphaModFix/>
          </a:blip>
          <a:srcRect b="159" l="0" r="0" t="159"/>
          <a:stretch/>
        </p:blipFill>
        <p:spPr>
          <a:xfrm>
            <a:off x="4043388" y="1488819"/>
            <a:ext cx="4105200" cy="13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"/>
          <p:cNvPicPr preferRelativeResize="0"/>
          <p:nvPr/>
        </p:nvPicPr>
        <p:blipFill rotWithShape="1">
          <a:blip r:embed="rId5">
            <a:alphaModFix/>
          </a:blip>
          <a:srcRect b="10937" l="0" r="0" t="10938"/>
          <a:stretch/>
        </p:blipFill>
        <p:spPr>
          <a:xfrm>
            <a:off x="0" y="6743700"/>
            <a:ext cx="121920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"/>
          <p:cNvSpPr txBox="1"/>
          <p:nvPr/>
        </p:nvSpPr>
        <p:spPr>
          <a:xfrm>
            <a:off x="952500" y="3048000"/>
            <a:ext cx="10287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Agentic Cloud Cluster</a:t>
            </a:r>
            <a:endParaRPr b="1" sz="5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E0E0E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Final Project Presentation</a:t>
            </a:r>
            <a:endParaRPr b="0" sz="2400">
              <a:solidFill>
                <a:srgbClr val="E0E0E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265" name="Google Shape;265;p2"/>
          <p:cNvGrpSpPr/>
          <p:nvPr/>
        </p:nvGrpSpPr>
        <p:grpSpPr>
          <a:xfrm>
            <a:off x="952500" y="5238750"/>
            <a:ext cx="10287000" cy="1238250"/>
            <a:chOff x="952500" y="5238750"/>
            <a:chExt cx="10287000" cy="1238250"/>
          </a:xfrm>
        </p:grpSpPr>
        <p:sp>
          <p:nvSpPr>
            <p:cNvPr id="266" name="Google Shape;266;p2"/>
            <p:cNvSpPr/>
            <p:nvPr/>
          </p:nvSpPr>
          <p:spPr>
            <a:xfrm>
              <a:off x="4191000" y="5238750"/>
              <a:ext cx="3810000" cy="1920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"/>
            <p:cNvSpPr txBox="1"/>
            <p:nvPr/>
          </p:nvSpPr>
          <p:spPr>
            <a:xfrm>
              <a:off x="952500" y="5524500"/>
              <a:ext cx="10287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FE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Sarthak Siddhpura</a:t>
              </a:r>
              <a:endParaRPr b="0" sz="2000">
                <a:solidFill>
                  <a:srgbClr val="FE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E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Mentor: Professor Sanjay Chaudhary</a:t>
              </a:r>
              <a:endParaRPr sz="2000">
                <a:solidFill>
                  <a:srgbClr val="FE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CCCCCC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Jan 2026 - April 2026</a:t>
              </a:r>
              <a:endParaRPr b="0" sz="1600">
                <a:solidFill>
                  <a:srgbClr val="CCCCCC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pic>
        <p:nvPicPr>
          <p:cNvPr id="268" name="Google Shape;268;p2"/>
          <p:cNvPicPr preferRelativeResize="0"/>
          <p:nvPr/>
        </p:nvPicPr>
        <p:blipFill rotWithShape="1">
          <a:blip r:embed="rId6">
            <a:alphaModFix/>
          </a:blip>
          <a:srcRect b="0" l="0" r="0" t="10"/>
          <a:stretch/>
        </p:blipFill>
        <p:spPr>
          <a:xfrm>
            <a:off x="10668000" y="6191250"/>
            <a:ext cx="1093200" cy="4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"/>
          <p:cNvSpPr txBox="1"/>
          <p:nvPr>
            <p:ph idx="4294967295" type="sldNum"/>
          </p:nvPr>
        </p:nvSpPr>
        <p:spPr>
          <a:xfrm>
            <a:off x="10321793" y="6414761"/>
            <a:ext cx="18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g3e79784054a_8_471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10287000" y="6096000"/>
            <a:ext cx="1093200" cy="4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e79784054a_8_471"/>
          <p:cNvSpPr txBox="1"/>
          <p:nvPr>
            <p:ph idx="1" type="body"/>
          </p:nvPr>
        </p:nvSpPr>
        <p:spPr>
          <a:xfrm>
            <a:off x="1688821" y="1143000"/>
            <a:ext cx="8814300" cy="521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Garamond"/>
              <a:buChar char="●"/>
            </a:pPr>
            <a:r>
              <a:rPr b="1" lang="en-US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Motivation</a:t>
            </a:r>
            <a:endParaRPr>
              <a:solidFill>
                <a:srgbClr val="3333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Garamond"/>
              <a:buChar char="●"/>
            </a:pPr>
            <a:r>
              <a:rPr b="1" lang="en-US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Literature survey</a:t>
            </a:r>
            <a:endParaRPr>
              <a:solidFill>
                <a:srgbClr val="3333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Garamond"/>
              <a:buChar char="●"/>
            </a:pPr>
            <a:r>
              <a:rPr b="1" lang="en-US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Overall objectives of the project</a:t>
            </a:r>
            <a:endParaRPr>
              <a:solidFill>
                <a:srgbClr val="3333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Garamond"/>
              <a:buChar char="●"/>
            </a:pPr>
            <a:r>
              <a:rPr b="1" lang="en-US">
                <a:latin typeface="Garamond"/>
                <a:ea typeface="Garamond"/>
                <a:cs typeface="Garamond"/>
                <a:sym typeface="Garamond"/>
              </a:rPr>
              <a:t>Tools and Architecture</a:t>
            </a:r>
            <a:endParaRPr>
              <a:solidFill>
                <a:srgbClr val="3333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Garamond"/>
              <a:buChar char="●"/>
            </a:pPr>
            <a:r>
              <a:rPr b="1" lang="en-US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Methodology </a:t>
            </a:r>
            <a:endParaRPr b="1">
              <a:latin typeface="Garamond"/>
              <a:ea typeface="Garamond"/>
              <a:cs typeface="Garamond"/>
              <a:sym typeface="Garamo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Garamond"/>
              <a:buChar char="●"/>
            </a:pPr>
            <a:r>
              <a:rPr b="1" lang="en-US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Progress and final results</a:t>
            </a:r>
            <a:endParaRPr>
              <a:solidFill>
                <a:srgbClr val="3333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Garamond"/>
              <a:buChar char="●"/>
            </a:pPr>
            <a:r>
              <a:rPr b="1" lang="en-US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Novelty in the project </a:t>
            </a:r>
            <a:endParaRPr>
              <a:solidFill>
                <a:srgbClr val="3333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Garamond"/>
              <a:buChar char="●"/>
            </a:pPr>
            <a:r>
              <a:rPr b="1" lang="en-US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Gantt chart for the project</a:t>
            </a:r>
            <a:endParaRPr>
              <a:solidFill>
                <a:srgbClr val="3333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Garamond"/>
              <a:buChar char="●"/>
            </a:pPr>
            <a:r>
              <a:rPr b="1" lang="en-US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Who will benefit from your work ?</a:t>
            </a:r>
            <a:endParaRPr>
              <a:solidFill>
                <a:srgbClr val="333333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76" name="Google Shape;276;g3e79784054a_8_471"/>
          <p:cNvSpPr txBox="1"/>
          <p:nvPr>
            <p:ph idx="4294967295" type="sldNum"/>
          </p:nvPr>
        </p:nvSpPr>
        <p:spPr>
          <a:xfrm>
            <a:off x="10321793" y="6414761"/>
            <a:ext cx="18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277" name="Google Shape;277;g3e79784054a_8_471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e79784054a_8_471"/>
          <p:cNvSpPr txBox="1"/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Outline</a:t>
            </a:r>
            <a:endParaRPr b="1" sz="40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e79784054a_8_897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10715625" y="6191250"/>
            <a:ext cx="1093200" cy="4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e79784054a_8_897"/>
          <p:cNvSpPr txBox="1"/>
          <p:nvPr>
            <p:ph idx="1" type="body"/>
          </p:nvPr>
        </p:nvSpPr>
        <p:spPr>
          <a:xfrm>
            <a:off x="574305" y="1333500"/>
            <a:ext cx="42864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Char char="●"/>
            </a:pPr>
            <a:r>
              <a:rPr b="0" lang="en-US"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A </a:t>
            </a:r>
            <a:r>
              <a:rPr b="1" lang="en-US" sz="2400">
                <a:solidFill>
                  <a:srgbClr val="000000"/>
                </a:solidFill>
              </a:rPr>
              <a:t>distributed task execution</a:t>
            </a:r>
            <a:r>
              <a:rPr b="0" lang="en-US"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 system built in Go.</a:t>
            </a:r>
            <a:endParaRPr b="0" sz="24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81000" lvl="0" marL="457200" rtl="0" algn="l">
              <a:spcBef>
                <a:spcPts val="18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Char char="●"/>
            </a:pPr>
            <a:r>
              <a:rPr b="1" lang="en-US" sz="2400">
                <a:solidFill>
                  <a:srgbClr val="000000"/>
                </a:solidFill>
              </a:rPr>
              <a:t>Master-worker architecture</a:t>
            </a:r>
            <a:r>
              <a:rPr b="0" lang="en-US"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 coordinating Docker-based jobs.</a:t>
            </a:r>
            <a:endParaRPr b="0" sz="24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81000" lvl="0" marL="457200" rtl="0" algn="l">
              <a:spcBef>
                <a:spcPts val="18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Garamond"/>
              <a:buChar char="●"/>
            </a:pPr>
            <a:r>
              <a:rPr b="0" lang="en-US"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Task placement decisions enhanced with </a:t>
            </a:r>
            <a:r>
              <a:rPr b="1" lang="en-US" sz="2400">
                <a:solidFill>
                  <a:srgbClr val="000000"/>
                </a:solidFill>
              </a:rPr>
              <a:t>Proximal Policy Optimization</a:t>
            </a:r>
            <a:r>
              <a:rPr b="0" lang="en-US"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 (PPO).</a:t>
            </a:r>
            <a:endParaRPr b="0" sz="24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81000" lvl="0" marL="457200" rtl="0" algn="l">
              <a:spcBef>
                <a:spcPts val="1875"/>
              </a:spcBef>
              <a:spcAft>
                <a:spcPts val="1875"/>
              </a:spcAft>
              <a:buClr>
                <a:srgbClr val="000000"/>
              </a:buClr>
              <a:buSzPts val="2400"/>
              <a:buFont typeface="Garamond"/>
              <a:buChar char="●"/>
            </a:pPr>
            <a:r>
              <a:rPr b="0" lang="en-US"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Clean separation between worker execution logic and the scheduling algorithm.</a:t>
            </a:r>
            <a:endParaRPr b="0" sz="24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285" name="Google Shape;285;g3e79784054a_8_897"/>
          <p:cNvSpPr txBox="1"/>
          <p:nvPr>
            <p:ph idx="4294967295" type="sldNum"/>
          </p:nvPr>
        </p:nvSpPr>
        <p:spPr>
          <a:xfrm>
            <a:off x="10321793" y="6414761"/>
            <a:ext cx="18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286" name="Google Shape;286;g3e79784054a_8_8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0700" y="1533600"/>
            <a:ext cx="6950400" cy="37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e79784054a_8_897"/>
          <p:cNvSpPr txBox="1"/>
          <p:nvPr/>
        </p:nvSpPr>
        <p:spPr>
          <a:xfrm>
            <a:off x="1734541" y="6381750"/>
            <a:ext cx="19659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e79784054a_8_897"/>
          <p:cNvSpPr txBox="1"/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Agentic Cloud Cluster</a:t>
            </a:r>
            <a:endParaRPr b="1" sz="40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bffdb8fb5_14_2197"/>
          <p:cNvSpPr txBox="1"/>
          <p:nvPr>
            <p:ph idx="4294967295" type="sldNum"/>
          </p:nvPr>
        </p:nvSpPr>
        <p:spPr>
          <a:xfrm>
            <a:off x="10321793" y="6414761"/>
            <a:ext cx="18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pSp>
        <p:nvGrpSpPr>
          <p:cNvPr id="294" name="Google Shape;294;g3dbffdb8fb5_14_2197"/>
          <p:cNvGrpSpPr/>
          <p:nvPr/>
        </p:nvGrpSpPr>
        <p:grpSpPr>
          <a:xfrm>
            <a:off x="762000" y="381000"/>
            <a:ext cx="10668000" cy="762000"/>
            <a:chOff x="762000" y="381000"/>
            <a:chExt cx="10668000" cy="762000"/>
          </a:xfrm>
        </p:grpSpPr>
        <p:sp>
          <p:nvSpPr>
            <p:cNvPr id="295" name="Google Shape;295;g3dbffdb8fb5_14_2197"/>
            <p:cNvSpPr/>
            <p:nvPr/>
          </p:nvSpPr>
          <p:spPr>
            <a:xfrm>
              <a:off x="762000" y="38100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g3dbffdb8fb5_14_2197"/>
            <p:cNvSpPr txBox="1"/>
            <p:nvPr/>
          </p:nvSpPr>
          <p:spPr>
            <a:xfrm>
              <a:off x="762000" y="38100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The Motivation for Intelligent Scheduling</a:t>
              </a:r>
              <a:endParaRPr b="1" sz="44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297" name="Google Shape;297;g3dbffdb8fb5_14_2197"/>
          <p:cNvGrpSpPr/>
          <p:nvPr/>
        </p:nvGrpSpPr>
        <p:grpSpPr>
          <a:xfrm>
            <a:off x="762047" y="1143003"/>
            <a:ext cx="3550730" cy="2457907"/>
            <a:chOff x="762000" y="1524000"/>
            <a:chExt cx="3429000" cy="4000500"/>
          </a:xfrm>
        </p:grpSpPr>
        <p:sp>
          <p:nvSpPr>
            <p:cNvPr id="298" name="Google Shape;298;g3dbffdb8fb5_14_2197"/>
            <p:cNvSpPr/>
            <p:nvPr/>
          </p:nvSpPr>
          <p:spPr>
            <a:xfrm>
              <a:off x="762000" y="1524000"/>
              <a:ext cx="3429000" cy="40005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7750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g3dbffdb8fb5_14_2197"/>
            <p:cNvSpPr txBox="1"/>
            <p:nvPr/>
          </p:nvSpPr>
          <p:spPr>
            <a:xfrm>
              <a:off x="1047750" y="186817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9">
                  <a:solidFill>
                    <a:srgbClr val="D32F2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rule</a:t>
              </a:r>
              <a:endParaRPr sz="3009">
                <a:solidFill>
                  <a:srgbClr val="D32F2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0" name="Google Shape;300;g3dbffdb8fb5_14_2197"/>
            <p:cNvSpPr txBox="1"/>
            <p:nvPr/>
          </p:nvSpPr>
          <p:spPr>
            <a:xfrm>
              <a:off x="952500" y="2476500"/>
              <a:ext cx="3048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33">
                  <a:solidFill>
                    <a:srgbClr val="D32F2F"/>
                  </a:solidFill>
                  <a:latin typeface="Garamond"/>
                  <a:ea typeface="Garamond"/>
                  <a:cs typeface="Garamond"/>
                  <a:sym typeface="Garamond"/>
                </a:rPr>
                <a:t>Rigid Rules Fail</a:t>
              </a:r>
              <a:endParaRPr b="1" sz="2233">
                <a:solidFill>
                  <a:srgbClr val="D32F2F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915"/>
                </a:spcBef>
                <a:spcAft>
                  <a:spcPts val="0"/>
                </a:spcAft>
                <a:buNone/>
              </a:pPr>
              <a:r>
                <a:rPr lang="en-US" sz="2008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Simple scheduling like </a:t>
              </a:r>
              <a:r>
                <a:rPr b="1" lang="en-US" sz="2008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Round-Robin</a:t>
              </a:r>
              <a:r>
                <a:rPr lang="en-US" sz="2008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 ignores worker capacity and task urgency, leading to inefficiencies.</a:t>
              </a:r>
              <a:endParaRPr sz="2008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301" name="Google Shape;301;g3dbffdb8fb5_14_2197"/>
          <p:cNvGrpSpPr/>
          <p:nvPr/>
        </p:nvGrpSpPr>
        <p:grpSpPr>
          <a:xfrm>
            <a:off x="4510039" y="1143003"/>
            <a:ext cx="3550730" cy="2457907"/>
            <a:chOff x="4381500" y="1524000"/>
            <a:chExt cx="3429000" cy="4000500"/>
          </a:xfrm>
        </p:grpSpPr>
        <p:sp>
          <p:nvSpPr>
            <p:cNvPr id="302" name="Google Shape;302;g3dbffdb8fb5_14_2197"/>
            <p:cNvSpPr/>
            <p:nvPr/>
          </p:nvSpPr>
          <p:spPr>
            <a:xfrm>
              <a:off x="4381500" y="1524000"/>
              <a:ext cx="3429000" cy="40005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7750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g3dbffdb8fb5_14_2197"/>
            <p:cNvSpPr txBox="1"/>
            <p:nvPr/>
          </p:nvSpPr>
          <p:spPr>
            <a:xfrm>
              <a:off x="4667250" y="186817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9">
                  <a:solidFill>
                    <a:srgbClr val="1976D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tune</a:t>
              </a:r>
              <a:endParaRPr sz="3009">
                <a:solidFill>
                  <a:srgbClr val="1976D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4" name="Google Shape;304;g3dbffdb8fb5_14_2197"/>
            <p:cNvSpPr txBox="1"/>
            <p:nvPr/>
          </p:nvSpPr>
          <p:spPr>
            <a:xfrm>
              <a:off x="4572000" y="2476500"/>
              <a:ext cx="3048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33">
                  <a:solidFill>
                    <a:srgbClr val="1976D2"/>
                  </a:solidFill>
                  <a:latin typeface="Garamond"/>
                  <a:ea typeface="Garamond"/>
                  <a:cs typeface="Garamond"/>
                  <a:sym typeface="Garamond"/>
                </a:rPr>
                <a:t>Tuning Complexity</a:t>
              </a:r>
              <a:endParaRPr b="1" sz="2233">
                <a:solidFill>
                  <a:srgbClr val="1976D2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915"/>
                </a:spcBef>
                <a:spcAft>
                  <a:spcPts val="0"/>
                </a:spcAft>
                <a:buNone/>
              </a:pPr>
              <a:r>
                <a:rPr lang="en-US" sz="2108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Heuristics are notoriously hard to tune for </a:t>
              </a:r>
              <a:r>
                <a:rPr b="1" lang="en-US" sz="2108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mixed workloads</a:t>
              </a:r>
              <a:r>
                <a:rPr lang="en-US" sz="2108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 (e.g., CPU vs. memory intensive tasks).</a:t>
              </a:r>
              <a:endParaRPr sz="2108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305" name="Google Shape;305;g3dbffdb8fb5_14_2197"/>
          <p:cNvGrpSpPr/>
          <p:nvPr/>
        </p:nvGrpSpPr>
        <p:grpSpPr>
          <a:xfrm>
            <a:off x="8258032" y="1143003"/>
            <a:ext cx="3550730" cy="2457907"/>
            <a:chOff x="8001000" y="1524000"/>
            <a:chExt cx="3429000" cy="4000500"/>
          </a:xfrm>
        </p:grpSpPr>
        <p:sp>
          <p:nvSpPr>
            <p:cNvPr id="306" name="Google Shape;306;g3dbffdb8fb5_14_2197"/>
            <p:cNvSpPr/>
            <p:nvPr/>
          </p:nvSpPr>
          <p:spPr>
            <a:xfrm>
              <a:off x="8001000" y="1524000"/>
              <a:ext cx="3429000" cy="40005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7750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g3dbffdb8fb5_14_2197"/>
            <p:cNvSpPr txBox="1"/>
            <p:nvPr/>
          </p:nvSpPr>
          <p:spPr>
            <a:xfrm>
              <a:off x="8286750" y="186817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9">
                  <a:solidFill>
                    <a:srgbClr val="388E3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dynamic_form</a:t>
              </a:r>
              <a:endParaRPr sz="3009">
                <a:solidFill>
                  <a:srgbClr val="388E3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8" name="Google Shape;308;g3dbffdb8fb5_14_2197"/>
            <p:cNvSpPr txBox="1"/>
            <p:nvPr/>
          </p:nvSpPr>
          <p:spPr>
            <a:xfrm>
              <a:off x="8191500" y="2476500"/>
              <a:ext cx="3048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33">
                  <a:solidFill>
                    <a:srgbClr val="388E3C"/>
                  </a:solidFill>
                  <a:latin typeface="Garamond"/>
                  <a:ea typeface="Garamond"/>
                  <a:cs typeface="Garamond"/>
                  <a:sym typeface="Garamond"/>
                </a:rPr>
                <a:t>Dynamic Drift</a:t>
              </a:r>
              <a:endParaRPr b="1" sz="2233">
                <a:solidFill>
                  <a:srgbClr val="388E3C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915"/>
                </a:spcBef>
                <a:spcAft>
                  <a:spcPts val="0"/>
                </a:spcAft>
                <a:buNone/>
              </a:pPr>
              <a:r>
                <a:rPr lang="en-US" sz="2108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In </a:t>
              </a:r>
              <a:r>
                <a:rPr b="1" lang="en-US" sz="2108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heterogeneous clusters</a:t>
              </a:r>
              <a:r>
                <a:rPr lang="en-US" sz="2108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, the "optimal" choice shifts dynamically every few seconds.</a:t>
              </a:r>
              <a:endParaRPr sz="2108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pic>
        <p:nvPicPr>
          <p:cNvPr id="309" name="Google Shape;309;g3dbffdb8fb5_14_2197"/>
          <p:cNvPicPr preferRelativeResize="0"/>
          <p:nvPr/>
        </p:nvPicPr>
        <p:blipFill rotWithShape="1">
          <a:blip r:embed="rId4">
            <a:alphaModFix/>
          </a:blip>
          <a:srcRect b="0" l="0" r="10" t="0"/>
          <a:stretch/>
        </p:blipFill>
        <p:spPr>
          <a:xfrm>
            <a:off x="10715625" y="6191250"/>
            <a:ext cx="1093200" cy="4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g3dbffdb8fb5_14_2197"/>
          <p:cNvSpPr txBox="1"/>
          <p:nvPr/>
        </p:nvSpPr>
        <p:spPr>
          <a:xfrm>
            <a:off x="762000" y="6286500"/>
            <a:ext cx="19659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3dbffdb8fb5_14_21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6200" y="3600900"/>
            <a:ext cx="6639600" cy="3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8" id="316" name="Google Shape;3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775" y="6356351"/>
            <a:ext cx="1093084" cy="40727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"/>
          <p:cNvSpPr txBox="1"/>
          <p:nvPr>
            <p:ph idx="4294967295" type="sldNum"/>
          </p:nvPr>
        </p:nvSpPr>
        <p:spPr>
          <a:xfrm>
            <a:off x="10321793" y="6414761"/>
            <a:ext cx="18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19" name="Google Shape;319;p5"/>
          <p:cNvSpPr txBox="1"/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Literature Survey</a:t>
            </a:r>
            <a:endParaRPr b="1" i="0" sz="44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20" name="Google Shape;320;p5"/>
          <p:cNvSpPr txBox="1"/>
          <p:nvPr/>
        </p:nvSpPr>
        <p:spPr>
          <a:xfrm>
            <a:off x="5090167" y="6414750"/>
            <a:ext cx="196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https://yunikorn.apache.org/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https://kubernetes.io/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1" name="Google Shape;321;p5"/>
          <p:cNvGrpSpPr/>
          <p:nvPr/>
        </p:nvGrpSpPr>
        <p:grpSpPr>
          <a:xfrm>
            <a:off x="571500" y="1333500"/>
            <a:ext cx="3429000" cy="4572000"/>
            <a:chOff x="571500" y="1333500"/>
            <a:chExt cx="3429000" cy="4572000"/>
          </a:xfrm>
        </p:grpSpPr>
        <p:sp>
          <p:nvSpPr>
            <p:cNvPr id="322" name="Google Shape;322;p5"/>
            <p:cNvSpPr/>
            <p:nvPr/>
          </p:nvSpPr>
          <p:spPr>
            <a:xfrm>
              <a:off x="571500" y="1333500"/>
              <a:ext cx="3429000" cy="45720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3" name="Google Shape;323;p5"/>
            <p:cNvPicPr preferRelativeResize="0"/>
            <p:nvPr/>
          </p:nvPicPr>
          <p:blipFill rotWithShape="1">
            <a:blip r:embed="rId6">
              <a:alphaModFix/>
            </a:blip>
            <a:srcRect b="0" l="1409" r="1400" t="0"/>
            <a:stretch/>
          </p:blipFill>
          <p:spPr>
            <a:xfrm>
              <a:off x="1583125" y="1773625"/>
              <a:ext cx="1274400" cy="1274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324;p5"/>
            <p:cNvSpPr txBox="1"/>
            <p:nvPr/>
          </p:nvSpPr>
          <p:spPr>
            <a:xfrm>
              <a:off x="762000" y="3238500"/>
              <a:ext cx="3048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D32F2F"/>
                  </a:solidFill>
                  <a:latin typeface="Garamond"/>
                  <a:ea typeface="Garamond"/>
                  <a:cs typeface="Garamond"/>
                  <a:sym typeface="Garamond"/>
                </a:rPr>
                <a:t>Kubernetes (Borg)</a:t>
              </a:r>
              <a:endParaRPr b="1" sz="2600">
                <a:solidFill>
                  <a:srgbClr val="D32F2F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Utilizes internal heuristics based on complex scoring and filtering mechanisms to manage large-scale container orchestration.</a:t>
              </a:r>
              <a:endParaRPr b="0" sz="2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325" name="Google Shape;325;p5"/>
          <p:cNvGrpSpPr/>
          <p:nvPr/>
        </p:nvGrpSpPr>
        <p:grpSpPr>
          <a:xfrm>
            <a:off x="4381500" y="1333500"/>
            <a:ext cx="3429000" cy="4572000"/>
            <a:chOff x="4381500" y="1333500"/>
            <a:chExt cx="3429000" cy="4572000"/>
          </a:xfrm>
        </p:grpSpPr>
        <p:sp>
          <p:nvSpPr>
            <p:cNvPr id="326" name="Google Shape;326;p5"/>
            <p:cNvSpPr/>
            <p:nvPr/>
          </p:nvSpPr>
          <p:spPr>
            <a:xfrm>
              <a:off x="4381500" y="1333500"/>
              <a:ext cx="3429000" cy="45720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7" name="Google Shape;327;p5"/>
            <p:cNvPicPr preferRelativeResize="0"/>
            <p:nvPr/>
          </p:nvPicPr>
          <p:blipFill rotWithShape="1">
            <a:blip r:embed="rId7">
              <a:alphaModFix/>
            </a:blip>
            <a:srcRect b="564" l="0" r="0" t="554"/>
            <a:stretch/>
          </p:blipFill>
          <p:spPr>
            <a:xfrm>
              <a:off x="5439900" y="1736100"/>
              <a:ext cx="1312200" cy="131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5"/>
            <p:cNvSpPr txBox="1"/>
            <p:nvPr/>
          </p:nvSpPr>
          <p:spPr>
            <a:xfrm>
              <a:off x="4572000" y="3238500"/>
              <a:ext cx="3048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976D2"/>
                  </a:solidFill>
                  <a:latin typeface="Garamond"/>
                  <a:ea typeface="Garamond"/>
                  <a:cs typeface="Garamond"/>
                  <a:sym typeface="Garamond"/>
                </a:rPr>
                <a:t>Apache Yunikorn</a:t>
              </a:r>
              <a:endParaRPr b="1" sz="2600">
                <a:solidFill>
                  <a:srgbClr val="1976D2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Comprehensive scheduling with:</a:t>
              </a:r>
              <a:endParaRPr b="0" sz="2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-3429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A1A1A"/>
                </a:buClr>
                <a:buSzPts val="1800"/>
                <a:buFont typeface="Garamond"/>
                <a:buChar char="●"/>
              </a:pPr>
              <a:r>
                <a:rPr lang="en-US" sz="18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Hierarchy queues</a:t>
              </a:r>
              <a:endParaRPr sz="18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-3429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1A1A1A"/>
                </a:buClr>
                <a:buSzPts val="1800"/>
                <a:buFont typeface="Garamond"/>
                <a:buChar char="●"/>
              </a:pPr>
              <a:r>
                <a:rPr lang="en-US" sz="18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Resource fairness</a:t>
              </a:r>
              <a:endParaRPr sz="18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-3429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1A1A1A"/>
                </a:buClr>
                <a:buSzPts val="1800"/>
                <a:buFont typeface="Garamond"/>
                <a:buChar char="●"/>
              </a:pPr>
              <a:r>
                <a:rPr lang="en-US" sz="18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Pluggable sorting</a:t>
              </a:r>
              <a:endParaRPr sz="18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-3429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1A1A1A"/>
                </a:buClr>
                <a:buSzPts val="1800"/>
                <a:buFont typeface="Garamond"/>
                <a:buChar char="●"/>
              </a:pPr>
              <a:r>
                <a:rPr lang="en-US" sz="18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Job ordering (FIFO/FAIR)</a:t>
              </a:r>
              <a:endParaRPr sz="18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pic>
        <p:nvPicPr>
          <p:cNvPr id="329" name="Google Shape;32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0" y="1333500"/>
            <a:ext cx="3429000" cy="1714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" name="Google Shape;330;p5"/>
          <p:cNvGrpSpPr/>
          <p:nvPr/>
        </p:nvGrpSpPr>
        <p:grpSpPr>
          <a:xfrm>
            <a:off x="8191500" y="1333500"/>
            <a:ext cx="3429000" cy="4572000"/>
            <a:chOff x="8191500" y="1333500"/>
            <a:chExt cx="3429000" cy="4572000"/>
          </a:xfrm>
        </p:grpSpPr>
        <p:sp>
          <p:nvSpPr>
            <p:cNvPr id="331" name="Google Shape;331;p5"/>
            <p:cNvSpPr/>
            <p:nvPr/>
          </p:nvSpPr>
          <p:spPr>
            <a:xfrm>
              <a:off x="8191500" y="1333500"/>
              <a:ext cx="3429000" cy="45720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2" name="Google Shape;33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245850" y="1727700"/>
              <a:ext cx="1320300" cy="1320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5"/>
            <p:cNvSpPr txBox="1"/>
            <p:nvPr/>
          </p:nvSpPr>
          <p:spPr>
            <a:xfrm>
              <a:off x="8382000" y="3238500"/>
              <a:ext cx="3048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388E3C"/>
                  </a:solidFill>
                  <a:latin typeface="Garamond"/>
                  <a:ea typeface="Garamond"/>
                  <a:cs typeface="Garamond"/>
                  <a:sym typeface="Garamond"/>
                </a:rPr>
                <a:t>Deep RL Evolution</a:t>
              </a:r>
              <a:endParaRPr b="1" sz="2600">
                <a:solidFill>
                  <a:srgbClr val="388E3C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Shift from simple rules to Deep RL (DQN to PPO).</a:t>
              </a:r>
              <a:endParaRPr b="0" sz="2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Primary Objectives:</a:t>
              </a:r>
              <a:endParaRPr b="1" sz="2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4A4A4A"/>
                  </a:solidFill>
                  <a:latin typeface="Garamond"/>
                  <a:ea typeface="Garamond"/>
                  <a:cs typeface="Garamond"/>
                  <a:sym typeface="Garamond"/>
                </a:rPr>
                <a:t>Optimizing Makespan, SLA compliance, and cluster balance.</a:t>
              </a:r>
              <a:endParaRPr b="0" sz="2000">
                <a:solidFill>
                  <a:srgbClr val="4A4A4A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e79784054a_85_108"/>
          <p:cNvSpPr txBox="1"/>
          <p:nvPr>
            <p:ph idx="4294967295" type="sldNum"/>
          </p:nvPr>
        </p:nvSpPr>
        <p:spPr>
          <a:xfrm>
            <a:off x="10321793" y="6414761"/>
            <a:ext cx="18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39" name="Google Shape;339;g3e79784054a_85_108"/>
          <p:cNvSpPr txBox="1"/>
          <p:nvPr>
            <p:ph idx="1" type="body"/>
          </p:nvPr>
        </p:nvSpPr>
        <p:spPr>
          <a:xfrm>
            <a:off x="738188" y="1428750"/>
            <a:ext cx="47625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Garamond"/>
              <a:buChar char="●"/>
            </a:pPr>
            <a:r>
              <a:rPr b="1" i="0" lang="en-US" sz="26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Scheduling</a:t>
            </a:r>
            <a:r>
              <a:rPr b="0" i="0" lang="en-US" sz="26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 is a repeated decision problem modifying future cluster state.</a:t>
            </a:r>
            <a:endParaRPr b="0" i="0" sz="26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93700" lvl="0" marL="457200" rtl="0" algn="l">
              <a:spcBef>
                <a:spcPts val="1875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Garamond"/>
              <a:buChar char="●"/>
            </a:pPr>
            <a:r>
              <a:rPr b="1" i="0" lang="en-US" sz="26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State:</a:t>
            </a:r>
            <a:r>
              <a:rPr b="0" i="0" lang="en-US" sz="26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 Current task requirements and worker resources.</a:t>
            </a:r>
            <a:endParaRPr b="0" i="0" sz="26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93700" lvl="0" marL="457200" rtl="0" algn="l"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Garamond"/>
              <a:buChar char="●"/>
            </a:pPr>
            <a:r>
              <a:rPr b="1" i="0" lang="en-US" sz="26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Action:</a:t>
            </a:r>
            <a:r>
              <a:rPr b="0" i="0" lang="en-US" sz="26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 The selected worker node.</a:t>
            </a:r>
            <a:endParaRPr b="0" i="0" sz="26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93700" lvl="0" marL="457200" rtl="0" algn="l">
              <a:spcBef>
                <a:spcPts val="1125"/>
              </a:spcBef>
              <a:spcAft>
                <a:spcPts val="1125"/>
              </a:spcAft>
              <a:buClr>
                <a:srgbClr val="000000"/>
              </a:buClr>
              <a:buSzPts val="2600"/>
              <a:buFont typeface="Garamond"/>
              <a:buChar char="●"/>
            </a:pPr>
            <a:r>
              <a:rPr b="1" i="0" lang="en-US" sz="26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Reward:</a:t>
            </a:r>
            <a:r>
              <a:rPr b="0" i="0" lang="en-US" sz="26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 Feedback on placement feasibility, delay risk, and cluster balance.</a:t>
            </a:r>
            <a:endParaRPr b="0" i="0" sz="26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340" name="Google Shape;340;g3e79784054a_85_108"/>
          <p:cNvPicPr preferRelativeResize="0"/>
          <p:nvPr/>
        </p:nvPicPr>
        <p:blipFill rotWithShape="1">
          <a:blip r:embed="rId3">
            <a:alphaModFix/>
          </a:blip>
          <a:srcRect b="90" l="0" r="0" t="80"/>
          <a:stretch/>
        </p:blipFill>
        <p:spPr>
          <a:xfrm>
            <a:off x="5500700" y="2026650"/>
            <a:ext cx="6024600" cy="2804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e79784054a_85_108"/>
          <p:cNvSpPr txBox="1"/>
          <p:nvPr/>
        </p:nvSpPr>
        <p:spPr>
          <a:xfrm>
            <a:off x="738188" y="6286500"/>
            <a:ext cx="19050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2" name="Google Shape;342;g3e79784054a_85_108"/>
          <p:cNvPicPr preferRelativeResize="0"/>
          <p:nvPr/>
        </p:nvPicPr>
        <p:blipFill rotWithShape="1">
          <a:blip r:embed="rId4">
            <a:alphaModFix/>
          </a:blip>
          <a:srcRect b="0" l="169" r="169" t="0"/>
          <a:stretch/>
        </p:blipFill>
        <p:spPr>
          <a:xfrm>
            <a:off x="10477500" y="6096000"/>
            <a:ext cx="1095300" cy="40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g3e79784054a_85_108"/>
          <p:cNvSpPr txBox="1"/>
          <p:nvPr>
            <p:ph type="title"/>
          </p:nvPr>
        </p:nvSpPr>
        <p:spPr>
          <a:xfrm>
            <a:off x="914400" y="5334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Why Reinforcement </a:t>
            </a:r>
            <a:r>
              <a:rPr b="1" lang="en-US" sz="4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learning ?</a:t>
            </a:r>
            <a:endParaRPr b="1" sz="40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g3e79784054a_85_4965"/>
          <p:cNvGrpSpPr/>
          <p:nvPr/>
        </p:nvGrpSpPr>
        <p:grpSpPr>
          <a:xfrm>
            <a:off x="1685925" y="904875"/>
            <a:ext cx="8820300" cy="5295975"/>
            <a:chOff x="1685925" y="904875"/>
            <a:chExt cx="8820300" cy="5295975"/>
          </a:xfrm>
        </p:grpSpPr>
        <p:sp>
          <p:nvSpPr>
            <p:cNvPr id="349" name="Google Shape;349;g3e79784054a_85_4965"/>
            <p:cNvSpPr/>
            <p:nvPr/>
          </p:nvSpPr>
          <p:spPr>
            <a:xfrm>
              <a:off x="1685925" y="904875"/>
              <a:ext cx="8820300" cy="19200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350" name="Google Shape;350;g3e79784054a_85_4965"/>
            <p:cNvSpPr/>
            <p:nvPr/>
          </p:nvSpPr>
          <p:spPr>
            <a:xfrm>
              <a:off x="1685925" y="6191250"/>
              <a:ext cx="8820300" cy="9600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</p:grpSp>
      <p:pic>
        <p:nvPicPr>
          <p:cNvPr descr="Picture 8" id="351" name="Google Shape;351;g3e79784054a_85_49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775" y="6356351"/>
            <a:ext cx="1093084" cy="407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2" name="Google Shape;352;g3e79784054a_85_4965"/>
          <p:cNvGrpSpPr/>
          <p:nvPr/>
        </p:nvGrpSpPr>
        <p:grpSpPr>
          <a:xfrm>
            <a:off x="1685925" y="1095375"/>
            <a:ext cx="8744100" cy="666900"/>
            <a:chOff x="1685925" y="1095375"/>
            <a:chExt cx="8744100" cy="666900"/>
          </a:xfrm>
        </p:grpSpPr>
        <p:sp>
          <p:nvSpPr>
            <p:cNvPr id="353" name="Google Shape;353;g3e79784054a_85_4965"/>
            <p:cNvSpPr/>
            <p:nvPr/>
          </p:nvSpPr>
          <p:spPr>
            <a:xfrm>
              <a:off x="1685925" y="1095375"/>
              <a:ext cx="476400" cy="4764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354" name="Google Shape;354;g3e79784054a_85_4965"/>
            <p:cNvSpPr txBox="1"/>
            <p:nvPr/>
          </p:nvSpPr>
          <p:spPr>
            <a:xfrm>
              <a:off x="1685925" y="1130427"/>
              <a:ext cx="476400" cy="4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3333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2400">
                <a:solidFill>
                  <a:srgbClr val="33333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55" name="Google Shape;355;g3e79784054a_85_4965"/>
            <p:cNvSpPr txBox="1"/>
            <p:nvPr/>
          </p:nvSpPr>
          <p:spPr>
            <a:xfrm>
              <a:off x="2333625" y="1095375"/>
              <a:ext cx="8096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Execution Cluster:</a:t>
              </a:r>
              <a:r>
                <a:rPr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 Build a functional Go master-worker execution cluster.</a:t>
              </a:r>
              <a:endParaRPr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356" name="Google Shape;356;g3e79784054a_85_4965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7" name="Google Shape;357;g3e79784054a_85_4965"/>
          <p:cNvGrpSpPr/>
          <p:nvPr/>
        </p:nvGrpSpPr>
        <p:grpSpPr>
          <a:xfrm>
            <a:off x="1685925" y="2000250"/>
            <a:ext cx="8744100" cy="666900"/>
            <a:chOff x="1685925" y="2000250"/>
            <a:chExt cx="8744100" cy="666900"/>
          </a:xfrm>
        </p:grpSpPr>
        <p:sp>
          <p:nvSpPr>
            <p:cNvPr id="358" name="Google Shape;358;g3e79784054a_85_4965"/>
            <p:cNvSpPr/>
            <p:nvPr/>
          </p:nvSpPr>
          <p:spPr>
            <a:xfrm>
              <a:off x="1685925" y="2000250"/>
              <a:ext cx="476400" cy="4764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359" name="Google Shape;359;g3e79784054a_85_4965"/>
            <p:cNvSpPr txBox="1"/>
            <p:nvPr/>
          </p:nvSpPr>
          <p:spPr>
            <a:xfrm>
              <a:off x="1685925" y="2035302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3333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badge</a:t>
              </a:r>
              <a:endParaRPr sz="2400">
                <a:solidFill>
                  <a:srgbClr val="33333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0" name="Google Shape;360;g3e79784054a_85_4965"/>
            <p:cNvSpPr txBox="1"/>
            <p:nvPr/>
          </p:nvSpPr>
          <p:spPr>
            <a:xfrm>
              <a:off x="2333625" y="2000250"/>
              <a:ext cx="8096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Worker Management:</a:t>
              </a:r>
              <a:r>
                <a:rPr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 Implement worker registration, heartbeats, and resource tracking.</a:t>
              </a:r>
              <a:endParaRPr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361" name="Google Shape;361;g3e79784054a_85_4965"/>
          <p:cNvSpPr txBox="1"/>
          <p:nvPr>
            <p:ph idx="4294967295" type="sldNum"/>
          </p:nvPr>
        </p:nvSpPr>
        <p:spPr>
          <a:xfrm>
            <a:off x="10321793" y="6414761"/>
            <a:ext cx="18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pSp>
        <p:nvGrpSpPr>
          <p:cNvPr id="362" name="Google Shape;362;g3e79784054a_85_4965"/>
          <p:cNvGrpSpPr/>
          <p:nvPr/>
        </p:nvGrpSpPr>
        <p:grpSpPr>
          <a:xfrm>
            <a:off x="1685925" y="2905125"/>
            <a:ext cx="8744100" cy="666900"/>
            <a:chOff x="1685925" y="2905125"/>
            <a:chExt cx="8744100" cy="666900"/>
          </a:xfrm>
        </p:grpSpPr>
        <p:sp>
          <p:nvSpPr>
            <p:cNvPr id="363" name="Google Shape;363;g3e79784054a_85_4965"/>
            <p:cNvSpPr/>
            <p:nvPr/>
          </p:nvSpPr>
          <p:spPr>
            <a:xfrm>
              <a:off x="1685925" y="2905125"/>
              <a:ext cx="476400" cy="4764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364" name="Google Shape;364;g3e79784054a_85_4965"/>
            <p:cNvSpPr txBox="1"/>
            <p:nvPr/>
          </p:nvSpPr>
          <p:spPr>
            <a:xfrm>
              <a:off x="1685925" y="2940177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3333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schedule</a:t>
              </a:r>
              <a:endParaRPr sz="2400">
                <a:solidFill>
                  <a:srgbClr val="33333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5" name="Google Shape;365;g3e79784054a_85_4965"/>
            <p:cNvSpPr txBox="1"/>
            <p:nvPr/>
          </p:nvSpPr>
          <p:spPr>
            <a:xfrm>
              <a:off x="2333625" y="2905125"/>
              <a:ext cx="8096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Scheduling Interface:</a:t>
              </a:r>
              <a:r>
                <a:rPr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 Create a clean scheduling interface supporting both baselines and PPO.</a:t>
              </a:r>
              <a:endParaRPr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366" name="Google Shape;366;g3e79784054a_85_4965"/>
          <p:cNvGrpSpPr/>
          <p:nvPr/>
        </p:nvGrpSpPr>
        <p:grpSpPr>
          <a:xfrm>
            <a:off x="1685925" y="3810000"/>
            <a:ext cx="8744100" cy="666900"/>
            <a:chOff x="1685925" y="3810000"/>
            <a:chExt cx="8744100" cy="666900"/>
          </a:xfrm>
        </p:grpSpPr>
        <p:sp>
          <p:nvSpPr>
            <p:cNvPr id="367" name="Google Shape;367;g3e79784054a_85_4965"/>
            <p:cNvSpPr/>
            <p:nvPr/>
          </p:nvSpPr>
          <p:spPr>
            <a:xfrm>
              <a:off x="1685925" y="3810000"/>
              <a:ext cx="476400" cy="4764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368" name="Google Shape;368;g3e79784054a_85_4965"/>
            <p:cNvSpPr txBox="1"/>
            <p:nvPr/>
          </p:nvSpPr>
          <p:spPr>
            <a:xfrm>
              <a:off x="1685925" y="3845052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3333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model_training</a:t>
              </a:r>
              <a:endParaRPr sz="2400">
                <a:solidFill>
                  <a:srgbClr val="33333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69" name="Google Shape;369;g3e79784054a_85_4965"/>
            <p:cNvSpPr txBox="1"/>
            <p:nvPr/>
          </p:nvSpPr>
          <p:spPr>
            <a:xfrm>
              <a:off x="2333625" y="3810000"/>
              <a:ext cx="8096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Agent Training:</a:t>
              </a:r>
              <a:r>
                <a:rPr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 Train the PPO agent on realistic cluster traces with a comprehensive reward function.</a:t>
              </a:r>
              <a:endParaRPr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370" name="Google Shape;370;g3e79784054a_85_4965"/>
          <p:cNvGrpSpPr/>
          <p:nvPr/>
        </p:nvGrpSpPr>
        <p:grpSpPr>
          <a:xfrm>
            <a:off x="1685925" y="4714875"/>
            <a:ext cx="8744100" cy="666900"/>
            <a:chOff x="1685925" y="4714875"/>
            <a:chExt cx="8744100" cy="666900"/>
          </a:xfrm>
        </p:grpSpPr>
        <p:sp>
          <p:nvSpPr>
            <p:cNvPr id="371" name="Google Shape;371;g3e79784054a_85_4965"/>
            <p:cNvSpPr/>
            <p:nvPr/>
          </p:nvSpPr>
          <p:spPr>
            <a:xfrm>
              <a:off x="1685925" y="4714875"/>
              <a:ext cx="476400" cy="476400"/>
            </a:xfrm>
            <a:prstGeom prst="roundRect">
              <a:avLst>
                <a:gd fmla="val 50000" name="adj"/>
              </a:avLst>
            </a:prstGeom>
            <a:solidFill>
              <a:srgbClr val="000000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/>
            </a:p>
          </p:txBody>
        </p:sp>
        <p:sp>
          <p:nvSpPr>
            <p:cNvPr id="372" name="Google Shape;372;g3e79784054a_85_4965"/>
            <p:cNvSpPr txBox="1"/>
            <p:nvPr/>
          </p:nvSpPr>
          <p:spPr>
            <a:xfrm>
              <a:off x="1685925" y="4749927"/>
              <a:ext cx="476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33333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00">
                <a:solidFill>
                  <a:srgbClr val="33333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73" name="Google Shape;373;g3e79784054a_85_4965"/>
            <p:cNvSpPr txBox="1"/>
            <p:nvPr/>
          </p:nvSpPr>
          <p:spPr>
            <a:xfrm>
              <a:off x="2333625" y="4714875"/>
              <a:ext cx="8096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System Analysis:</a:t>
              </a:r>
              <a:r>
                <a:rPr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 Conduct end-to-end benchmark campaigns to analyze system behavior.</a:t>
              </a:r>
              <a:endParaRPr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374" name="Google Shape;374;g3e79784054a_85_4965"/>
          <p:cNvSpPr txBox="1"/>
          <p:nvPr>
            <p:ph type="title"/>
          </p:nvPr>
        </p:nvSpPr>
        <p:spPr>
          <a:xfrm>
            <a:off x="762000" y="142875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Objectives</a:t>
            </a:r>
            <a:endParaRPr b="1" sz="40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6"/>
          <p:cNvSpPr txBox="1"/>
          <p:nvPr>
            <p:ph idx="4294967295" type="sldNum"/>
          </p:nvPr>
        </p:nvSpPr>
        <p:spPr>
          <a:xfrm>
            <a:off x="10321793" y="6414761"/>
            <a:ext cx="18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381" name="Google Shape;381;p6"/>
          <p:cNvSpPr txBox="1"/>
          <p:nvPr>
            <p:ph type="title"/>
          </p:nvPr>
        </p:nvSpPr>
        <p:spPr>
          <a:xfrm>
            <a:off x="761975" y="955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Tools</a:t>
            </a:r>
            <a:endParaRPr b="1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382" name="Google Shape;382;p6"/>
          <p:cNvGrpSpPr/>
          <p:nvPr/>
        </p:nvGrpSpPr>
        <p:grpSpPr>
          <a:xfrm>
            <a:off x="2012413" y="988150"/>
            <a:ext cx="8820300" cy="5295975"/>
            <a:chOff x="1685925" y="904875"/>
            <a:chExt cx="8820300" cy="5295975"/>
          </a:xfrm>
        </p:grpSpPr>
        <p:sp>
          <p:nvSpPr>
            <p:cNvPr id="383" name="Google Shape;383;p6"/>
            <p:cNvSpPr/>
            <p:nvPr/>
          </p:nvSpPr>
          <p:spPr>
            <a:xfrm>
              <a:off x="1685925" y="904875"/>
              <a:ext cx="8820300" cy="9600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6"/>
            <p:cNvSpPr/>
            <p:nvPr/>
          </p:nvSpPr>
          <p:spPr>
            <a:xfrm>
              <a:off x="1685925" y="6191250"/>
              <a:ext cx="8820300" cy="9600"/>
            </a:xfrm>
            <a:prstGeom prst="rect">
              <a:avLst/>
            </a:prstGeom>
            <a:solidFill>
              <a:srgbClr val="000000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85" name="Google Shape;38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3725" y="1134337"/>
            <a:ext cx="494799" cy="673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6" name="Google Shape;386;p6"/>
          <p:cNvGrpSpPr/>
          <p:nvPr/>
        </p:nvGrpSpPr>
        <p:grpSpPr>
          <a:xfrm>
            <a:off x="2047877" y="1178650"/>
            <a:ext cx="9382108" cy="4191000"/>
            <a:chOff x="2400300" y="1095375"/>
            <a:chExt cx="8096400" cy="4191000"/>
          </a:xfrm>
        </p:grpSpPr>
        <p:sp>
          <p:nvSpPr>
            <p:cNvPr id="387" name="Google Shape;387;p6"/>
            <p:cNvSpPr txBox="1"/>
            <p:nvPr/>
          </p:nvSpPr>
          <p:spPr>
            <a:xfrm>
              <a:off x="2400300" y="1095375"/>
              <a:ext cx="809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Go:</a:t>
              </a:r>
              <a:r>
                <a:rPr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 </a:t>
              </a:r>
              <a:r>
                <a:rPr b="0"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Powers the highly concurrent master-worker control plane.</a:t>
              </a:r>
              <a:endParaRPr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388" name="Google Shape;388;p6"/>
            <p:cNvSpPr txBox="1"/>
            <p:nvPr/>
          </p:nvSpPr>
          <p:spPr>
            <a:xfrm>
              <a:off x="2400300" y="2000250"/>
              <a:ext cx="809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2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Docker:</a:t>
              </a:r>
              <a:r>
                <a:rPr lang="en-US" sz="242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 </a:t>
              </a:r>
              <a:r>
                <a:rPr b="0" lang="en-US" sz="242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Provides isolated, repeatable container execution environments.</a:t>
              </a:r>
              <a:endParaRPr sz="242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389" name="Google Shape;389;p6"/>
            <p:cNvSpPr txBox="1"/>
            <p:nvPr/>
          </p:nvSpPr>
          <p:spPr>
            <a:xfrm>
              <a:off x="2400300" y="2905125"/>
              <a:ext cx="809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gRPC &amp; Protocol Buffers:</a:t>
              </a:r>
              <a:r>
                <a:rPr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 </a:t>
              </a:r>
              <a:r>
                <a:rPr b="0"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Ensures rigid, typed, and high-performance communication.</a:t>
              </a:r>
              <a:endParaRPr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390" name="Google Shape;390;p6"/>
            <p:cNvSpPr txBox="1"/>
            <p:nvPr/>
          </p:nvSpPr>
          <p:spPr>
            <a:xfrm>
              <a:off x="2400300" y="3810000"/>
              <a:ext cx="809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MongoDB:</a:t>
              </a:r>
              <a:r>
                <a:rPr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 </a:t>
              </a:r>
              <a:r>
                <a:rPr b="0"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Acts as the persistent storage layer for tasks, workers, and metadata.</a:t>
              </a:r>
              <a:endParaRPr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391" name="Google Shape;391;p6"/>
            <p:cNvSpPr txBox="1"/>
            <p:nvPr/>
          </p:nvSpPr>
          <p:spPr>
            <a:xfrm>
              <a:off x="2400300" y="4714875"/>
              <a:ext cx="8096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Python/PyTorch:</a:t>
              </a:r>
              <a:r>
                <a:rPr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 </a:t>
              </a:r>
              <a:r>
                <a:rPr b="0" lang="en-US" sz="24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Drives the decoupled PPO scheduling service.</a:t>
              </a:r>
              <a:endParaRPr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pic>
        <p:nvPicPr>
          <p:cNvPr id="392" name="Google Shape;39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4463" y="2035913"/>
            <a:ext cx="673325" cy="67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987" y="2937489"/>
            <a:ext cx="1196559" cy="67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5213" y="3839050"/>
            <a:ext cx="673325" cy="67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85213" y="4740638"/>
            <a:ext cx="673325" cy="6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8"/>
          <p:cNvSpPr txBox="1"/>
          <p:nvPr>
            <p:ph idx="1" type="body"/>
          </p:nvPr>
        </p:nvSpPr>
        <p:spPr>
          <a:xfrm>
            <a:off x="1688824" y="1030494"/>
            <a:ext cx="8814352" cy="52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01" name="Google Shape;401;p8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8"/>
          <p:cNvSpPr txBox="1"/>
          <p:nvPr>
            <p:ph idx="4294967295" type="sldNum"/>
          </p:nvPr>
        </p:nvSpPr>
        <p:spPr>
          <a:xfrm>
            <a:off x="10321793" y="6414761"/>
            <a:ext cx="181381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403" name="Google Shape;403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888" y="874650"/>
            <a:ext cx="11678223" cy="598334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8"/>
          <p:cNvSpPr txBox="1"/>
          <p:nvPr>
            <p:ph type="title"/>
          </p:nvPr>
        </p:nvSpPr>
        <p:spPr>
          <a:xfrm>
            <a:off x="762000" y="142875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High Level Architecture</a:t>
            </a:r>
            <a:endParaRPr b="1" sz="40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79784054a_8_0"/>
          <p:cNvSpPr txBox="1"/>
          <p:nvPr>
            <p:ph type="title"/>
          </p:nvPr>
        </p:nvSpPr>
        <p:spPr>
          <a:xfrm>
            <a:off x="1688824" y="126586"/>
            <a:ext cx="88143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aramond"/>
              <a:buNone/>
            </a:pPr>
            <a:r>
              <a:rPr lang="en-US">
                <a:solidFill>
                  <a:schemeClr val="dk1"/>
                </a:solidFill>
              </a:rPr>
              <a:t>Task LifeCycle - Ideal </a:t>
            </a:r>
            <a:endParaRPr/>
          </a:p>
        </p:txBody>
      </p:sp>
      <p:sp>
        <p:nvSpPr>
          <p:cNvPr id="410" name="Google Shape;410;g3e79784054a_8_0"/>
          <p:cNvSpPr txBox="1"/>
          <p:nvPr>
            <p:ph idx="1" type="body"/>
          </p:nvPr>
        </p:nvSpPr>
        <p:spPr>
          <a:xfrm>
            <a:off x="1688824" y="1030494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11" name="Google Shape;411;g3e79784054a_8_0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e79784054a_8_0"/>
          <p:cNvSpPr txBox="1"/>
          <p:nvPr>
            <p:ph idx="4294967295" type="sldNum"/>
          </p:nvPr>
        </p:nvSpPr>
        <p:spPr>
          <a:xfrm>
            <a:off x="10321793" y="6414761"/>
            <a:ext cx="18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413" name="Google Shape;413;g3e79784054a_8_0"/>
          <p:cNvPicPr preferRelativeResize="0"/>
          <p:nvPr/>
        </p:nvPicPr>
        <p:blipFill rotWithShape="1">
          <a:blip r:embed="rId3">
            <a:alphaModFix/>
          </a:blip>
          <a:srcRect b="45046" l="0" r="0" t="0"/>
          <a:stretch/>
        </p:blipFill>
        <p:spPr>
          <a:xfrm>
            <a:off x="1749675" y="952637"/>
            <a:ext cx="8692646" cy="5384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e79784054a_85_4578"/>
          <p:cNvSpPr txBox="1"/>
          <p:nvPr>
            <p:ph idx="1" type="body"/>
          </p:nvPr>
        </p:nvSpPr>
        <p:spPr>
          <a:xfrm>
            <a:off x="1688824" y="1030494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19" name="Google Shape;419;g3e79784054a_85_4578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e79784054a_85_4578"/>
          <p:cNvSpPr txBox="1"/>
          <p:nvPr>
            <p:ph idx="4294967295" type="sldNum"/>
          </p:nvPr>
        </p:nvSpPr>
        <p:spPr>
          <a:xfrm>
            <a:off x="10321793" y="6414761"/>
            <a:ext cx="18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421" name="Google Shape;421;g3e79784054a_85_4578"/>
          <p:cNvPicPr preferRelativeResize="0"/>
          <p:nvPr/>
        </p:nvPicPr>
        <p:blipFill rotWithShape="1">
          <a:blip r:embed="rId3">
            <a:alphaModFix/>
          </a:blip>
          <a:srcRect b="0" l="0" r="0" t="51691"/>
          <a:stretch/>
        </p:blipFill>
        <p:spPr>
          <a:xfrm>
            <a:off x="1310738" y="1039113"/>
            <a:ext cx="9570471" cy="52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g3e79784054a_85_4578"/>
          <p:cNvSpPr txBox="1"/>
          <p:nvPr>
            <p:ph type="title"/>
          </p:nvPr>
        </p:nvSpPr>
        <p:spPr>
          <a:xfrm>
            <a:off x="762000" y="142875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Task LifeCycle - Ideal</a:t>
            </a:r>
            <a:endParaRPr b="1" sz="40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e79784054a_8_36"/>
          <p:cNvSpPr txBox="1"/>
          <p:nvPr>
            <p:ph idx="1" type="body"/>
          </p:nvPr>
        </p:nvSpPr>
        <p:spPr>
          <a:xfrm>
            <a:off x="1688824" y="1030494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28" name="Google Shape;428;g3e79784054a_8_36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e79784054a_8_36"/>
          <p:cNvSpPr txBox="1"/>
          <p:nvPr>
            <p:ph idx="4294967295" type="sldNum"/>
          </p:nvPr>
        </p:nvSpPr>
        <p:spPr>
          <a:xfrm>
            <a:off x="10321793" y="6414761"/>
            <a:ext cx="18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430" name="Google Shape;430;g3e79784054a_8_36"/>
          <p:cNvPicPr preferRelativeResize="0"/>
          <p:nvPr/>
        </p:nvPicPr>
        <p:blipFill rotWithShape="1">
          <a:blip r:embed="rId3">
            <a:alphaModFix/>
          </a:blip>
          <a:srcRect b="53288" l="0" r="0" t="0"/>
          <a:stretch/>
        </p:blipFill>
        <p:spPr>
          <a:xfrm>
            <a:off x="1475363" y="748200"/>
            <a:ext cx="9241287" cy="6109798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g3e79784054a_8_36"/>
          <p:cNvSpPr txBox="1"/>
          <p:nvPr>
            <p:ph type="title"/>
          </p:nvPr>
        </p:nvSpPr>
        <p:spPr>
          <a:xfrm>
            <a:off x="762000" y="-10396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Task LifeCycle - Retry Mechanism</a:t>
            </a:r>
            <a:endParaRPr b="1" sz="40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79784054a_8_45"/>
          <p:cNvSpPr txBox="1"/>
          <p:nvPr>
            <p:ph idx="1" type="body"/>
          </p:nvPr>
        </p:nvSpPr>
        <p:spPr>
          <a:xfrm>
            <a:off x="1688824" y="1030494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37" name="Google Shape;437;g3e79784054a_8_45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g3e79784054a_8_45"/>
          <p:cNvSpPr txBox="1"/>
          <p:nvPr>
            <p:ph idx="4294967295" type="sldNum"/>
          </p:nvPr>
        </p:nvSpPr>
        <p:spPr>
          <a:xfrm>
            <a:off x="10321793" y="6414761"/>
            <a:ext cx="18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439" name="Google Shape;439;g3e79784054a_8_45"/>
          <p:cNvPicPr preferRelativeResize="0"/>
          <p:nvPr/>
        </p:nvPicPr>
        <p:blipFill rotWithShape="1">
          <a:blip r:embed="rId3">
            <a:alphaModFix/>
          </a:blip>
          <a:srcRect b="16078" l="0" r="0" t="37210"/>
          <a:stretch/>
        </p:blipFill>
        <p:spPr>
          <a:xfrm>
            <a:off x="1475338" y="748200"/>
            <a:ext cx="9241287" cy="6109798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g3e79784054a_8_45"/>
          <p:cNvSpPr txBox="1"/>
          <p:nvPr>
            <p:ph type="title"/>
          </p:nvPr>
        </p:nvSpPr>
        <p:spPr>
          <a:xfrm>
            <a:off x="762000" y="-10396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Task LifeCycle - Retry Mechanism</a:t>
            </a:r>
            <a:endParaRPr b="1" sz="40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e79784054a_8_61"/>
          <p:cNvSpPr txBox="1"/>
          <p:nvPr>
            <p:ph idx="1" type="body"/>
          </p:nvPr>
        </p:nvSpPr>
        <p:spPr>
          <a:xfrm>
            <a:off x="1688824" y="1030494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46" name="Google Shape;446;g3e79784054a_8_61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3e79784054a_8_61"/>
          <p:cNvSpPr txBox="1"/>
          <p:nvPr>
            <p:ph idx="4294967295" type="sldNum"/>
          </p:nvPr>
        </p:nvSpPr>
        <p:spPr>
          <a:xfrm>
            <a:off x="10321793" y="6414761"/>
            <a:ext cx="18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448" name="Google Shape;448;g3e79784054a_8_61"/>
          <p:cNvPicPr preferRelativeResize="0"/>
          <p:nvPr/>
        </p:nvPicPr>
        <p:blipFill rotWithShape="1">
          <a:blip r:embed="rId3">
            <a:alphaModFix/>
          </a:blip>
          <a:srcRect b="0" l="-1605" r="0" t="62390"/>
          <a:stretch/>
        </p:blipFill>
        <p:spPr>
          <a:xfrm>
            <a:off x="957116" y="1030500"/>
            <a:ext cx="10277723" cy="5384248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e79784054a_8_61"/>
          <p:cNvSpPr txBox="1"/>
          <p:nvPr>
            <p:ph type="title"/>
          </p:nvPr>
        </p:nvSpPr>
        <p:spPr>
          <a:xfrm>
            <a:off x="762000" y="-10396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Task LifeCycle - Retry Mechanism</a:t>
            </a:r>
            <a:endParaRPr b="1" sz="40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dbffdb8fb5_14_365"/>
          <p:cNvSpPr txBox="1"/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Evolution of Agentic Scheduling</a:t>
            </a:r>
            <a:endParaRPr b="1" sz="40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455" name="Google Shape;455;g3dbffdb8fb5_14_365"/>
          <p:cNvGrpSpPr/>
          <p:nvPr/>
        </p:nvGrpSpPr>
        <p:grpSpPr>
          <a:xfrm>
            <a:off x="762000" y="1524000"/>
            <a:ext cx="10668000" cy="4000500"/>
            <a:chOff x="762000" y="1524000"/>
            <a:chExt cx="10668000" cy="4000500"/>
          </a:xfrm>
        </p:grpSpPr>
        <p:sp>
          <p:nvSpPr>
            <p:cNvPr id="456" name="Google Shape;456;g3dbffdb8fb5_14_365"/>
            <p:cNvSpPr/>
            <p:nvPr/>
          </p:nvSpPr>
          <p:spPr>
            <a:xfrm>
              <a:off x="762000" y="1524000"/>
              <a:ext cx="3429000" cy="40005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g3dbffdb8fb5_14_365"/>
            <p:cNvSpPr txBox="1"/>
            <p:nvPr/>
          </p:nvSpPr>
          <p:spPr>
            <a:xfrm>
              <a:off x="952500" y="1767078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6B728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grid_on</a:t>
              </a:r>
              <a:endParaRPr sz="3600">
                <a:solidFill>
                  <a:srgbClr val="6B728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58" name="Google Shape;458;g3dbffdb8fb5_14_365"/>
            <p:cNvSpPr txBox="1"/>
            <p:nvPr/>
          </p:nvSpPr>
          <p:spPr>
            <a:xfrm>
              <a:off x="952500" y="2962650"/>
              <a:ext cx="3048000" cy="22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111827"/>
                  </a:solidFill>
                  <a:latin typeface="Garamond"/>
                  <a:ea typeface="Garamond"/>
                  <a:cs typeface="Garamond"/>
                  <a:sym typeface="Garamond"/>
                </a:rPr>
                <a:t>Q-Tables</a:t>
              </a:r>
              <a:endParaRPr b="1" sz="3000">
                <a:solidFill>
                  <a:srgbClr val="111827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Unsuitable due to massive, continuous state spaces in cluster environments.</a:t>
              </a:r>
              <a:endParaRPr b="0" sz="240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459" name="Google Shape;459;g3dbffdb8fb5_14_365"/>
            <p:cNvSpPr/>
            <p:nvPr/>
          </p:nvSpPr>
          <p:spPr>
            <a:xfrm>
              <a:off x="4381500" y="1524000"/>
              <a:ext cx="3429000" cy="40005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g3dbffdb8fb5_14_365"/>
            <p:cNvSpPr txBox="1"/>
            <p:nvPr/>
          </p:nvSpPr>
          <p:spPr>
            <a:xfrm>
              <a:off x="4572000" y="1767078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6B728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3600">
                <a:solidFill>
                  <a:srgbClr val="6B728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1" name="Google Shape;461;g3dbffdb8fb5_14_365"/>
            <p:cNvSpPr txBox="1"/>
            <p:nvPr/>
          </p:nvSpPr>
          <p:spPr>
            <a:xfrm>
              <a:off x="4572000" y="2381250"/>
              <a:ext cx="3048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3000">
                <a:solidFill>
                  <a:srgbClr val="111827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3000">
                  <a:solidFill>
                    <a:srgbClr val="111827"/>
                  </a:solidFill>
                  <a:latin typeface="Garamond"/>
                  <a:ea typeface="Garamond"/>
                  <a:cs typeface="Garamond"/>
                  <a:sym typeface="Garamond"/>
                </a:rPr>
                <a:t>Deep Q-Networks</a:t>
              </a:r>
              <a:endParaRPr b="1" sz="3000">
                <a:solidFill>
                  <a:srgbClr val="111827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Difficult to handle dynamic action sets and masking invalid workers.</a:t>
              </a:r>
              <a:endParaRPr b="0" sz="240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462" name="Google Shape;462;g3dbffdb8fb5_14_365"/>
            <p:cNvSpPr/>
            <p:nvPr/>
          </p:nvSpPr>
          <p:spPr>
            <a:xfrm>
              <a:off x="8001000" y="1524000"/>
              <a:ext cx="3429000" cy="40005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g3dbffdb8fb5_14_365"/>
            <p:cNvSpPr txBox="1"/>
            <p:nvPr/>
          </p:nvSpPr>
          <p:spPr>
            <a:xfrm>
              <a:off x="8191500" y="1767078"/>
              <a:ext cx="304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36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64" name="Google Shape;464;g3dbffdb8fb5_14_365"/>
            <p:cNvSpPr txBox="1"/>
            <p:nvPr/>
          </p:nvSpPr>
          <p:spPr>
            <a:xfrm>
              <a:off x="8191500" y="2381250"/>
              <a:ext cx="30480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900">
                <a:solidFill>
                  <a:srgbClr val="111827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900">
                  <a:solidFill>
                    <a:srgbClr val="111827"/>
                  </a:solidFill>
                  <a:latin typeface="Garamond"/>
                  <a:ea typeface="Garamond"/>
                  <a:cs typeface="Garamond"/>
                  <a:sym typeface="Garamond"/>
                </a:rPr>
                <a:t>PPO</a:t>
              </a:r>
              <a:endParaRPr b="1" sz="2900">
                <a:solidFill>
                  <a:srgbClr val="111827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30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Directly learns a policy, supports action masks, and uses stable clipped updates.</a:t>
              </a:r>
              <a:endParaRPr b="0" sz="230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465" name="Google Shape;465;g3dbffdb8fb5_14_365"/>
          <p:cNvSpPr txBox="1"/>
          <p:nvPr>
            <p:ph idx="4294967295" type="sldNum"/>
          </p:nvPr>
        </p:nvSpPr>
        <p:spPr>
          <a:xfrm>
            <a:off x="10321793" y="6414761"/>
            <a:ext cx="1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466" name="Google Shape;466;g3dbffdb8fb5_14_365"/>
          <p:cNvPicPr preferRelativeResize="0"/>
          <p:nvPr/>
        </p:nvPicPr>
        <p:blipFill rotWithShape="1">
          <a:blip r:embed="rId4">
            <a:alphaModFix/>
          </a:blip>
          <a:srcRect b="0" l="0" r="0" t="10"/>
          <a:stretch/>
        </p:blipFill>
        <p:spPr>
          <a:xfrm>
            <a:off x="10336911" y="6355480"/>
            <a:ext cx="1093200" cy="4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g3dbffdb8fb5_14_365"/>
          <p:cNvSpPr txBox="1"/>
          <p:nvPr/>
        </p:nvSpPr>
        <p:spPr>
          <a:xfrm>
            <a:off x="762000" y="642937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8" name="Google Shape;468;g3dbffdb8fb5_14_3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5028025" y="7792625"/>
            <a:ext cx="9753600" cy="54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dbde0d0470_0_282"/>
          <p:cNvSpPr txBox="1"/>
          <p:nvPr>
            <p:ph idx="1" type="body"/>
          </p:nvPr>
        </p:nvSpPr>
        <p:spPr>
          <a:xfrm>
            <a:off x="1688824" y="1030494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74" name="Google Shape;474;g3dbde0d0470_0_282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dbde0d0470_0_282"/>
          <p:cNvSpPr txBox="1"/>
          <p:nvPr>
            <p:ph idx="4294967295" type="sldNum"/>
          </p:nvPr>
        </p:nvSpPr>
        <p:spPr>
          <a:xfrm>
            <a:off x="10321793" y="6414761"/>
            <a:ext cx="18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476" name="Google Shape;476;g3dbde0d0470_0_2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3775" y="818050"/>
            <a:ext cx="9564399" cy="603994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g3dbde0d0470_0_282"/>
          <p:cNvSpPr txBox="1"/>
          <p:nvPr>
            <p:ph type="title"/>
          </p:nvPr>
        </p:nvSpPr>
        <p:spPr>
          <a:xfrm>
            <a:off x="761975" y="25881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High Level Architecture: Agentic Scheduler</a:t>
            </a:r>
            <a:endParaRPr b="1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e79784054a_85_3717"/>
          <p:cNvSpPr txBox="1"/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Methodology: Trace-Driven Training</a:t>
            </a:r>
            <a:endParaRPr b="1" i="0" sz="40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483" name="Google Shape;483;g3e79784054a_85_3717"/>
          <p:cNvGrpSpPr/>
          <p:nvPr/>
        </p:nvGrpSpPr>
        <p:grpSpPr>
          <a:xfrm>
            <a:off x="762000" y="1714500"/>
            <a:ext cx="3295800" cy="4000500"/>
            <a:chOff x="762000" y="1714500"/>
            <a:chExt cx="3295800" cy="4000500"/>
          </a:xfrm>
        </p:grpSpPr>
        <p:sp>
          <p:nvSpPr>
            <p:cNvPr id="484" name="Google Shape;484;g3e79784054a_85_3717"/>
            <p:cNvSpPr/>
            <p:nvPr/>
          </p:nvSpPr>
          <p:spPr>
            <a:xfrm>
              <a:off x="762000" y="1714500"/>
              <a:ext cx="3295800" cy="4000500"/>
            </a:xfrm>
            <a:prstGeom prst="roundRect">
              <a:avLst>
                <a:gd fmla="val 4335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g3e79784054a_85_3717"/>
            <p:cNvSpPr txBox="1"/>
            <p:nvPr/>
          </p:nvSpPr>
          <p:spPr>
            <a:xfrm>
              <a:off x="952500" y="1951736"/>
              <a:ext cx="2914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3200">
                <a:solidFill>
                  <a:srgbClr val="0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86" name="Google Shape;486;g3e79784054a_85_3717"/>
            <p:cNvSpPr txBox="1"/>
            <p:nvPr/>
          </p:nvSpPr>
          <p:spPr>
            <a:xfrm>
              <a:off x="952500" y="2571750"/>
              <a:ext cx="29148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rgbClr val="374151"/>
                  </a:solidFill>
                  <a:latin typeface="Garamond"/>
                  <a:ea typeface="Garamond"/>
                  <a:cs typeface="Garamond"/>
                  <a:sym typeface="Garamond"/>
                </a:rPr>
                <a:t>Dataset Source</a:t>
              </a:r>
              <a:endParaRPr b="1" sz="2500">
                <a:solidFill>
                  <a:srgbClr val="37415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50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Trained using the Alibaba Cluster Trace v2018 (Production workload data).</a:t>
              </a:r>
              <a:endParaRPr b="0" sz="250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487" name="Google Shape;487;g3e79784054a_85_3717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8" name="Google Shape;488;g3e79784054a_85_3717"/>
          <p:cNvGrpSpPr/>
          <p:nvPr/>
        </p:nvGrpSpPr>
        <p:grpSpPr>
          <a:xfrm>
            <a:off x="4438650" y="1714500"/>
            <a:ext cx="3295800" cy="4000500"/>
            <a:chOff x="4438650" y="1714500"/>
            <a:chExt cx="3295800" cy="4000500"/>
          </a:xfrm>
        </p:grpSpPr>
        <p:sp>
          <p:nvSpPr>
            <p:cNvPr id="489" name="Google Shape;489;g3e79784054a_85_3717"/>
            <p:cNvSpPr/>
            <p:nvPr/>
          </p:nvSpPr>
          <p:spPr>
            <a:xfrm>
              <a:off x="4438650" y="1714500"/>
              <a:ext cx="3295800" cy="4000500"/>
            </a:xfrm>
            <a:prstGeom prst="roundRect">
              <a:avLst>
                <a:gd fmla="val 4335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g3e79784054a_85_3717"/>
            <p:cNvSpPr txBox="1"/>
            <p:nvPr/>
          </p:nvSpPr>
          <p:spPr>
            <a:xfrm>
              <a:off x="4629150" y="1951736"/>
              <a:ext cx="2914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settings_backup_restore</a:t>
              </a:r>
              <a:endParaRPr sz="3200">
                <a:solidFill>
                  <a:srgbClr val="0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91" name="Google Shape;491;g3e79784054a_85_3717"/>
            <p:cNvSpPr txBox="1"/>
            <p:nvPr/>
          </p:nvSpPr>
          <p:spPr>
            <a:xfrm>
              <a:off x="4629150" y="2571750"/>
              <a:ext cx="29148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rgbClr val="374151"/>
                  </a:solidFill>
                  <a:latin typeface="Garamond"/>
                  <a:ea typeface="Garamond"/>
                  <a:cs typeface="Garamond"/>
                  <a:sym typeface="Garamond"/>
                </a:rPr>
                <a:t>Replay Environment</a:t>
              </a:r>
              <a:endParaRPr b="1" sz="2500">
                <a:solidFill>
                  <a:srgbClr val="37415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50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Simulates sequential task arrivals, resource reservations, and completions.</a:t>
              </a:r>
              <a:endParaRPr b="0" sz="250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492" name="Google Shape;492;g3e79784054a_85_3717"/>
          <p:cNvSpPr txBox="1"/>
          <p:nvPr>
            <p:ph idx="4294967295" type="sldNum"/>
          </p:nvPr>
        </p:nvSpPr>
        <p:spPr>
          <a:xfrm>
            <a:off x="10321793" y="6414761"/>
            <a:ext cx="1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pSp>
        <p:nvGrpSpPr>
          <p:cNvPr id="493" name="Google Shape;493;g3e79784054a_85_3717"/>
          <p:cNvGrpSpPr/>
          <p:nvPr/>
        </p:nvGrpSpPr>
        <p:grpSpPr>
          <a:xfrm>
            <a:off x="8115300" y="1714500"/>
            <a:ext cx="3295800" cy="4000500"/>
            <a:chOff x="8115300" y="1714500"/>
            <a:chExt cx="3295800" cy="4000500"/>
          </a:xfrm>
        </p:grpSpPr>
        <p:sp>
          <p:nvSpPr>
            <p:cNvPr id="494" name="Google Shape;494;g3e79784054a_85_3717"/>
            <p:cNvSpPr/>
            <p:nvPr/>
          </p:nvSpPr>
          <p:spPr>
            <a:xfrm>
              <a:off x="8115300" y="1714500"/>
              <a:ext cx="3295800" cy="4000500"/>
            </a:xfrm>
            <a:prstGeom prst="roundRect">
              <a:avLst>
                <a:gd fmla="val 4335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g3e79784054a_85_3717"/>
            <p:cNvSpPr txBox="1"/>
            <p:nvPr/>
          </p:nvSpPr>
          <p:spPr>
            <a:xfrm>
              <a:off x="8305800" y="1951736"/>
              <a:ext cx="29148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track_changes</a:t>
              </a:r>
              <a:endParaRPr sz="3200">
                <a:solidFill>
                  <a:srgbClr val="0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496" name="Google Shape;496;g3e79784054a_85_3717"/>
            <p:cNvSpPr txBox="1"/>
            <p:nvPr/>
          </p:nvSpPr>
          <p:spPr>
            <a:xfrm>
              <a:off x="8305800" y="2571750"/>
              <a:ext cx="29148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rgbClr val="374151"/>
                  </a:solidFill>
                  <a:latin typeface="Garamond"/>
                  <a:ea typeface="Garamond"/>
                  <a:cs typeface="Garamond"/>
                  <a:sym typeface="Garamond"/>
                </a:rPr>
                <a:t>Resource Tracking</a:t>
              </a:r>
              <a:endParaRPr b="1" sz="2500">
                <a:solidFill>
                  <a:srgbClr val="37415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50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Lifecycle Resource Tracking: Matches actual simulated runtimes rather than inaccurate exponential decay.</a:t>
              </a:r>
              <a:endParaRPr b="0" sz="250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pic>
        <p:nvPicPr>
          <p:cNvPr id="497" name="Google Shape;497;g3e79784054a_85_3717"/>
          <p:cNvPicPr preferRelativeResize="0"/>
          <p:nvPr/>
        </p:nvPicPr>
        <p:blipFill rotWithShape="1">
          <a:blip r:embed="rId4">
            <a:alphaModFix/>
          </a:blip>
          <a:srcRect b="0" l="0" r="0" t="10"/>
          <a:stretch/>
        </p:blipFill>
        <p:spPr>
          <a:xfrm>
            <a:off x="8445770" y="6356347"/>
            <a:ext cx="1093200" cy="4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8" id="502" name="Google Shape;502;g3e79784054a_85_25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775" y="6356351"/>
            <a:ext cx="1093084" cy="40727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g3e79784054a_85_2564"/>
          <p:cNvSpPr txBox="1"/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State Representation &amp; Action Masking</a:t>
            </a:r>
            <a:endParaRPr b="1" i="0" sz="40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504" name="Google Shape;504;g3e79784054a_85_2564"/>
          <p:cNvGrpSpPr/>
          <p:nvPr/>
        </p:nvGrpSpPr>
        <p:grpSpPr>
          <a:xfrm>
            <a:off x="762000" y="1524000"/>
            <a:ext cx="10668000" cy="4381500"/>
            <a:chOff x="762000" y="1524000"/>
            <a:chExt cx="10668000" cy="4381500"/>
          </a:xfrm>
        </p:grpSpPr>
        <p:sp>
          <p:nvSpPr>
            <p:cNvPr id="505" name="Google Shape;505;g3e79784054a_85_2564"/>
            <p:cNvSpPr/>
            <p:nvPr/>
          </p:nvSpPr>
          <p:spPr>
            <a:xfrm>
              <a:off x="762000" y="1524000"/>
              <a:ext cx="5143500" cy="24954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g3e79784054a_85_2564"/>
            <p:cNvSpPr txBox="1"/>
            <p:nvPr/>
          </p:nvSpPr>
          <p:spPr>
            <a:xfrm>
              <a:off x="1047750" y="1714500"/>
              <a:ext cx="45720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40">
                  <a:solidFill>
                    <a:srgbClr val="374151"/>
                  </a:solidFill>
                  <a:latin typeface="Garamond"/>
                  <a:ea typeface="Garamond"/>
                  <a:cs typeface="Garamond"/>
                  <a:sym typeface="Garamond"/>
                </a:rPr>
                <a:t>Task Vector (5 features)</a:t>
              </a:r>
              <a:endParaRPr b="1" sz="2040">
                <a:solidFill>
                  <a:srgbClr val="37415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-344805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4B5563"/>
                </a:buClr>
                <a:buSzPts val="1830"/>
                <a:buFont typeface="Garamond"/>
                <a:buChar char="●"/>
              </a:pPr>
              <a:r>
                <a:rPr lang="en-US" sz="183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CPU</a:t>
              </a:r>
              <a:endParaRPr sz="183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-34480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B5563"/>
                </a:buClr>
                <a:buSzPts val="1830"/>
                <a:buFont typeface="Garamond"/>
                <a:buChar char="●"/>
              </a:pPr>
              <a:r>
                <a:rPr lang="en-US" sz="183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Memory</a:t>
              </a:r>
              <a:endParaRPr sz="183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-34480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B5563"/>
                </a:buClr>
                <a:buSzPts val="1830"/>
                <a:buFont typeface="Garamond"/>
                <a:buChar char="●"/>
              </a:pPr>
              <a:r>
                <a:rPr lang="en-US" sz="183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Storage</a:t>
              </a:r>
              <a:endParaRPr sz="183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-34480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B5563"/>
                </a:buClr>
                <a:buSzPts val="1830"/>
                <a:buFont typeface="Garamond"/>
                <a:buChar char="●"/>
              </a:pPr>
              <a:r>
                <a:rPr lang="en-US" sz="183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SLA Multiplier</a:t>
              </a:r>
              <a:endParaRPr sz="183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-34480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B5563"/>
                </a:buClr>
                <a:buSzPts val="1830"/>
                <a:buFont typeface="Garamond"/>
                <a:buChar char="●"/>
              </a:pPr>
              <a:r>
                <a:rPr lang="en-US" sz="183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Task Type</a:t>
              </a:r>
              <a:endParaRPr sz="183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507" name="Google Shape;507;g3e79784054a_85_2564"/>
            <p:cNvSpPr/>
            <p:nvPr/>
          </p:nvSpPr>
          <p:spPr>
            <a:xfrm>
              <a:off x="6286500" y="1524000"/>
              <a:ext cx="5143500" cy="24954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g3e79784054a_85_2564"/>
            <p:cNvSpPr txBox="1"/>
            <p:nvPr/>
          </p:nvSpPr>
          <p:spPr>
            <a:xfrm>
              <a:off x="6572250" y="1714500"/>
              <a:ext cx="4572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140">
                  <a:solidFill>
                    <a:srgbClr val="374151"/>
                  </a:solidFill>
                  <a:latin typeface="Garamond"/>
                  <a:ea typeface="Garamond"/>
                  <a:cs typeface="Garamond"/>
                  <a:sym typeface="Garamond"/>
                </a:rPr>
                <a:t>Worker Vector (9 features)</a:t>
              </a:r>
              <a:endParaRPr b="1" sz="2140">
                <a:solidFill>
                  <a:srgbClr val="37415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83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Ratios for CPU, Memory, and Storage across three dimensions:</a:t>
              </a:r>
              <a:endParaRPr sz="183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-34480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4B5563"/>
                </a:buClr>
                <a:buSzPts val="1830"/>
                <a:buFont typeface="Garamond"/>
                <a:buChar char="●"/>
              </a:pPr>
              <a:r>
                <a:rPr lang="en-US" sz="183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Available Resources</a:t>
              </a:r>
              <a:endParaRPr sz="183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-34480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B5563"/>
                </a:buClr>
                <a:buSzPts val="1830"/>
                <a:buFont typeface="Garamond"/>
                <a:buChar char="●"/>
              </a:pPr>
              <a:r>
                <a:rPr lang="en-US" sz="183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Total Capacity</a:t>
              </a:r>
              <a:endParaRPr sz="183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-344805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B5563"/>
                </a:buClr>
                <a:buSzPts val="1830"/>
                <a:buFont typeface="Garamond"/>
                <a:buChar char="●"/>
              </a:pPr>
              <a:r>
                <a:rPr lang="en-US" sz="183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Used Resources</a:t>
              </a:r>
              <a:endParaRPr sz="183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509" name="Google Shape;509;g3e79784054a_85_2564"/>
            <p:cNvSpPr/>
            <p:nvPr/>
          </p:nvSpPr>
          <p:spPr>
            <a:xfrm>
              <a:off x="762000" y="4191000"/>
              <a:ext cx="10668000" cy="1714500"/>
            </a:xfrm>
            <a:prstGeom prst="roundRect">
              <a:avLst>
                <a:gd fmla="val 8333" name="adj"/>
              </a:avLst>
            </a:prstGeom>
            <a:solidFill>
              <a:srgbClr val="F3F4F6"/>
            </a:solidFill>
            <a:ln cap="flat" cmpd="sng" w="9525">
              <a:solidFill>
                <a:srgbClr val="9CA3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g3e79784054a_85_2564"/>
            <p:cNvSpPr txBox="1"/>
            <p:nvPr/>
          </p:nvSpPr>
          <p:spPr>
            <a:xfrm>
              <a:off x="1047750" y="4429125"/>
              <a:ext cx="10096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F2937"/>
                  </a:solidFill>
                  <a:latin typeface="Garamond"/>
                  <a:ea typeface="Garamond"/>
                  <a:cs typeface="Garamond"/>
                  <a:sym typeface="Garamond"/>
                </a:rPr>
                <a:t>Action Masking</a:t>
              </a:r>
              <a:endParaRPr b="1" sz="2600">
                <a:solidFill>
                  <a:srgbClr val="1F2937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374151"/>
                  </a:solidFill>
                  <a:latin typeface="Garamond"/>
                  <a:ea typeface="Garamond"/>
                  <a:cs typeface="Garamond"/>
                  <a:sym typeface="Garamond"/>
                </a:rPr>
                <a:t>Infeasible workers lacking required resources are </a:t>
              </a:r>
              <a:r>
                <a:rPr b="1" lang="en-US" sz="2200">
                  <a:solidFill>
                    <a:srgbClr val="B91C1C"/>
                  </a:solidFill>
                  <a:latin typeface="Garamond"/>
                  <a:ea typeface="Garamond"/>
                  <a:cs typeface="Garamond"/>
                  <a:sym typeface="Garamond"/>
                </a:rPr>
                <a:t>mathematically hidden</a:t>
              </a:r>
              <a:r>
                <a:rPr lang="en-US" sz="2200">
                  <a:solidFill>
                    <a:srgbClr val="374151"/>
                  </a:solidFill>
                  <a:latin typeface="Garamond"/>
                  <a:ea typeface="Garamond"/>
                  <a:cs typeface="Garamond"/>
                  <a:sym typeface="Garamond"/>
                </a:rPr>
                <a:t> from the policy, ensuring valid scheduling decisions.</a:t>
              </a:r>
              <a:endParaRPr sz="2200">
                <a:solidFill>
                  <a:srgbClr val="374151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511" name="Google Shape;511;g3e79784054a_85_2564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g3e79784054a_85_2564"/>
          <p:cNvSpPr txBox="1"/>
          <p:nvPr>
            <p:ph idx="4294967295" type="sldNum"/>
          </p:nvPr>
        </p:nvSpPr>
        <p:spPr>
          <a:xfrm>
            <a:off x="10321793" y="6414761"/>
            <a:ext cx="1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dbde0d0470_0_297"/>
          <p:cNvSpPr txBox="1"/>
          <p:nvPr>
            <p:ph idx="1" type="body"/>
          </p:nvPr>
        </p:nvSpPr>
        <p:spPr>
          <a:xfrm>
            <a:off x="1688824" y="1030494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18" name="Google Shape;518;g3dbde0d0470_0_297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g3dbde0d0470_0_297"/>
          <p:cNvSpPr txBox="1"/>
          <p:nvPr>
            <p:ph idx="4294967295" type="sldNum"/>
          </p:nvPr>
        </p:nvSpPr>
        <p:spPr>
          <a:xfrm>
            <a:off x="10321793" y="6414761"/>
            <a:ext cx="181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520" name="Google Shape;520;g3dbde0d0470_0_2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8825" y="874775"/>
            <a:ext cx="8814300" cy="582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g3dbde0d0470_0_297"/>
          <p:cNvSpPr txBox="1"/>
          <p:nvPr>
            <p:ph type="title"/>
          </p:nvPr>
        </p:nvSpPr>
        <p:spPr>
          <a:xfrm>
            <a:off x="761975" y="955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PPO Scheduler Design (Actor &amp; Critic)</a:t>
            </a:r>
            <a:endParaRPr b="1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8" id="526" name="Google Shape;526;g3e79784054a_85_29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775" y="6356351"/>
            <a:ext cx="1093084" cy="40727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g3e79784054a_85_2964"/>
          <p:cNvSpPr txBox="1"/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The Reward Function</a:t>
            </a:r>
            <a:endParaRPr b="1" sz="40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528" name="Google Shape;528;g3e79784054a_85_2964"/>
          <p:cNvGrpSpPr/>
          <p:nvPr/>
        </p:nvGrpSpPr>
        <p:grpSpPr>
          <a:xfrm>
            <a:off x="762000" y="1333500"/>
            <a:ext cx="10668000" cy="1143000"/>
            <a:chOff x="762000" y="1333500"/>
            <a:chExt cx="10668000" cy="1143000"/>
          </a:xfrm>
        </p:grpSpPr>
        <p:sp>
          <p:nvSpPr>
            <p:cNvPr id="529" name="Google Shape;529;g3e79784054a_85_2964"/>
            <p:cNvSpPr/>
            <p:nvPr/>
          </p:nvSpPr>
          <p:spPr>
            <a:xfrm>
              <a:off x="762000" y="1333500"/>
              <a:ext cx="10668000" cy="1143000"/>
            </a:xfrm>
            <a:prstGeom prst="roundRect">
              <a:avLst>
                <a:gd fmla="val 12500" name="adj"/>
              </a:avLst>
            </a:prstGeom>
            <a:solidFill>
              <a:srgbClr val="F3F4F6"/>
            </a:solidFill>
            <a:ln cap="flat" cmpd="sng" w="9525">
              <a:solidFill>
                <a:srgbClr val="9CA3A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g3e79784054a_85_2964"/>
            <p:cNvSpPr txBox="1"/>
            <p:nvPr/>
          </p:nvSpPr>
          <p:spPr>
            <a:xfrm>
              <a:off x="1047750" y="1333500"/>
              <a:ext cx="10096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F2937"/>
                  </a:solidFill>
                  <a:latin typeface="Garamond"/>
                  <a:ea typeface="Garamond"/>
                  <a:cs typeface="Garamond"/>
                  <a:sym typeface="Garamond"/>
                </a:rPr>
                <a:t>R = 1.4 + 0.25H - 0.35Qp - 0.55Tp - 0.20Ip - 0.40ΔI - Rq</a:t>
              </a:r>
              <a:endParaRPr b="1" sz="2800">
                <a:solidFill>
                  <a:srgbClr val="1F2937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531" name="Google Shape;531;g3e79784054a_85_2964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2" name="Google Shape;532;g3e79784054a_85_2964"/>
          <p:cNvGrpSpPr/>
          <p:nvPr/>
        </p:nvGrpSpPr>
        <p:grpSpPr>
          <a:xfrm>
            <a:off x="762000" y="2667000"/>
            <a:ext cx="10668000" cy="3905400"/>
            <a:chOff x="762000" y="2667000"/>
            <a:chExt cx="10668000" cy="3905400"/>
          </a:xfrm>
        </p:grpSpPr>
        <p:sp>
          <p:nvSpPr>
            <p:cNvPr id="533" name="Google Shape;533;g3e79784054a_85_2964"/>
            <p:cNvSpPr/>
            <p:nvPr/>
          </p:nvSpPr>
          <p:spPr>
            <a:xfrm>
              <a:off x="762000" y="2667000"/>
              <a:ext cx="5143500" cy="1238400"/>
            </a:xfrm>
            <a:prstGeom prst="roundRect">
              <a:avLst>
                <a:gd fmla="val 11538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g3e79784054a_85_2964"/>
            <p:cNvSpPr txBox="1"/>
            <p:nvPr/>
          </p:nvSpPr>
          <p:spPr>
            <a:xfrm>
              <a:off x="952500" y="2762250"/>
              <a:ext cx="4762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74151"/>
                  </a:solidFill>
                  <a:latin typeface="Garamond"/>
                  <a:ea typeface="Garamond"/>
                  <a:cs typeface="Garamond"/>
                  <a:sym typeface="Garamond"/>
                </a:rPr>
                <a:t>H (Headroom Bonus)</a:t>
              </a:r>
              <a:endParaRPr b="1" sz="1600">
                <a:solidFill>
                  <a:srgbClr val="37415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Rewarded by selection of workers who have space vacant.</a:t>
              </a:r>
              <a:endParaRPr sz="160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535" name="Google Shape;535;g3e79784054a_85_2964"/>
            <p:cNvSpPr/>
            <p:nvPr/>
          </p:nvSpPr>
          <p:spPr>
            <a:xfrm>
              <a:off x="6286500" y="2667000"/>
              <a:ext cx="5143500" cy="1238400"/>
            </a:xfrm>
            <a:prstGeom prst="roundRect">
              <a:avLst>
                <a:gd fmla="val 11538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g3e79784054a_85_2964"/>
            <p:cNvSpPr txBox="1"/>
            <p:nvPr/>
          </p:nvSpPr>
          <p:spPr>
            <a:xfrm>
              <a:off x="6477000" y="2762250"/>
              <a:ext cx="4762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74151"/>
                  </a:solidFill>
                  <a:latin typeface="Garamond"/>
                  <a:ea typeface="Garamond"/>
                  <a:cs typeface="Garamond"/>
                  <a:sym typeface="Garamond"/>
                </a:rPr>
                <a:t>Qp (Queue Pressure)</a:t>
              </a:r>
              <a:endParaRPr b="1" sz="1600">
                <a:solidFill>
                  <a:srgbClr val="37415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Punishes anticipated waiting time.</a:t>
              </a:r>
              <a:endParaRPr sz="160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537" name="Google Shape;537;g3e79784054a_85_2964"/>
            <p:cNvSpPr/>
            <p:nvPr/>
          </p:nvSpPr>
          <p:spPr>
            <a:xfrm>
              <a:off x="762000" y="4000500"/>
              <a:ext cx="5143500" cy="1238400"/>
            </a:xfrm>
            <a:prstGeom prst="roundRect">
              <a:avLst>
                <a:gd fmla="val 11538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g3e79784054a_85_2964"/>
            <p:cNvSpPr txBox="1"/>
            <p:nvPr/>
          </p:nvSpPr>
          <p:spPr>
            <a:xfrm>
              <a:off x="952500" y="4095750"/>
              <a:ext cx="4762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74151"/>
                  </a:solidFill>
                  <a:latin typeface="Garamond"/>
                  <a:ea typeface="Garamond"/>
                  <a:cs typeface="Garamond"/>
                  <a:sym typeface="Garamond"/>
                </a:rPr>
                <a:t>Tp (Tail Pressure)</a:t>
              </a:r>
              <a:endParaRPr b="1" sz="1600">
                <a:solidFill>
                  <a:srgbClr val="37415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Penalizes likely SLA or tail-latency risk.</a:t>
              </a:r>
              <a:endParaRPr sz="160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539" name="Google Shape;539;g3e79784054a_85_2964"/>
            <p:cNvSpPr/>
            <p:nvPr/>
          </p:nvSpPr>
          <p:spPr>
            <a:xfrm>
              <a:off x="6286500" y="4000500"/>
              <a:ext cx="5143500" cy="1238400"/>
            </a:xfrm>
            <a:prstGeom prst="roundRect">
              <a:avLst>
                <a:gd fmla="val 11538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g3e79784054a_85_2964"/>
            <p:cNvSpPr txBox="1"/>
            <p:nvPr/>
          </p:nvSpPr>
          <p:spPr>
            <a:xfrm>
              <a:off x="6477000" y="4095750"/>
              <a:ext cx="4762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74151"/>
                  </a:solidFill>
                  <a:latin typeface="Garamond"/>
                  <a:ea typeface="Garamond"/>
                  <a:cs typeface="Garamond"/>
                  <a:sym typeface="Garamond"/>
                </a:rPr>
                <a:t>Ip (Imbalance Penalty)</a:t>
              </a:r>
              <a:endParaRPr b="1" sz="1600">
                <a:solidFill>
                  <a:srgbClr val="37415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Discourages overworking of already overworked workers.</a:t>
              </a:r>
              <a:endParaRPr sz="160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541" name="Google Shape;541;g3e79784054a_85_2964"/>
            <p:cNvSpPr/>
            <p:nvPr/>
          </p:nvSpPr>
          <p:spPr>
            <a:xfrm>
              <a:off x="762000" y="5334000"/>
              <a:ext cx="5143500" cy="1238400"/>
            </a:xfrm>
            <a:prstGeom prst="roundRect">
              <a:avLst>
                <a:gd fmla="val 11538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g3e79784054a_85_2964"/>
            <p:cNvSpPr txBox="1"/>
            <p:nvPr/>
          </p:nvSpPr>
          <p:spPr>
            <a:xfrm>
              <a:off x="952500" y="5429250"/>
              <a:ext cx="4762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74151"/>
                  </a:solidFill>
                  <a:latin typeface="Garamond"/>
                  <a:ea typeface="Garamond"/>
                  <a:cs typeface="Garamond"/>
                  <a:sym typeface="Garamond"/>
                </a:rPr>
                <a:t>ΔI (Change in Imbalance)</a:t>
              </a:r>
              <a:endParaRPr b="1" sz="1600">
                <a:solidFill>
                  <a:srgbClr val="37415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Punishes behaviors that worsen cluster balance.</a:t>
              </a:r>
              <a:endParaRPr sz="160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543" name="Google Shape;543;g3e79784054a_85_2964"/>
            <p:cNvSpPr/>
            <p:nvPr/>
          </p:nvSpPr>
          <p:spPr>
            <a:xfrm>
              <a:off x="6286500" y="5334000"/>
              <a:ext cx="5143500" cy="1238400"/>
            </a:xfrm>
            <a:prstGeom prst="roundRect">
              <a:avLst>
                <a:gd fmla="val 11538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g3e79784054a_85_2964"/>
            <p:cNvSpPr txBox="1"/>
            <p:nvPr/>
          </p:nvSpPr>
          <p:spPr>
            <a:xfrm>
              <a:off x="6477000" y="5429250"/>
              <a:ext cx="4762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374151"/>
                  </a:solidFill>
                  <a:latin typeface="Garamond"/>
                  <a:ea typeface="Garamond"/>
                  <a:cs typeface="Garamond"/>
                  <a:sym typeface="Garamond"/>
                </a:rPr>
                <a:t>Rq (Requeue Penalty)</a:t>
              </a:r>
              <a:endParaRPr b="1" sz="1600">
                <a:solidFill>
                  <a:srgbClr val="374151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4B5563"/>
                  </a:solidFill>
                  <a:latin typeface="Garamond"/>
                  <a:ea typeface="Garamond"/>
                  <a:cs typeface="Garamond"/>
                  <a:sym typeface="Garamond"/>
                </a:rPr>
                <a:t>Discourages constantly dangerous placements.</a:t>
              </a:r>
              <a:endParaRPr sz="1600">
                <a:solidFill>
                  <a:srgbClr val="4B556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545" name="Google Shape;545;g3e79784054a_85_2964"/>
          <p:cNvSpPr txBox="1"/>
          <p:nvPr>
            <p:ph idx="4294967295" type="sldNum"/>
          </p:nvPr>
        </p:nvSpPr>
        <p:spPr>
          <a:xfrm>
            <a:off x="10321793" y="6414761"/>
            <a:ext cx="18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0"/>
          <p:cNvSpPr txBox="1"/>
          <p:nvPr>
            <p:ph idx="1" type="body"/>
          </p:nvPr>
        </p:nvSpPr>
        <p:spPr>
          <a:xfrm>
            <a:off x="1688824" y="1030494"/>
            <a:ext cx="8814352" cy="52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51" name="Google Shape;551;p10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0"/>
          <p:cNvSpPr txBox="1"/>
          <p:nvPr>
            <p:ph idx="4294967295" type="sldNum"/>
          </p:nvPr>
        </p:nvSpPr>
        <p:spPr>
          <a:xfrm>
            <a:off x="10244552" y="6414761"/>
            <a:ext cx="25862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553" name="Google Shape;553;p10"/>
          <p:cNvSpPr txBox="1"/>
          <p:nvPr>
            <p:ph type="title"/>
          </p:nvPr>
        </p:nvSpPr>
        <p:spPr>
          <a:xfrm>
            <a:off x="761975" y="955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Training Convergence</a:t>
            </a:r>
            <a:endParaRPr b="1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554" name="Google Shape;55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9250" y="1030500"/>
            <a:ext cx="8833449" cy="5827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e79784054a_8_72"/>
          <p:cNvSpPr txBox="1"/>
          <p:nvPr>
            <p:ph idx="1" type="body"/>
          </p:nvPr>
        </p:nvSpPr>
        <p:spPr>
          <a:xfrm>
            <a:off x="1688824" y="1030494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60" name="Google Shape;560;g3e79784054a_8_72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g3e79784054a_8_72"/>
          <p:cNvSpPr txBox="1"/>
          <p:nvPr>
            <p:ph idx="4294967295" type="sldNum"/>
          </p:nvPr>
        </p:nvSpPr>
        <p:spPr>
          <a:xfrm>
            <a:off x="10244552" y="641476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562" name="Google Shape;562;g3e79784054a_8_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8825" y="1030500"/>
            <a:ext cx="8814301" cy="5827501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g3e79784054a_8_72"/>
          <p:cNvSpPr txBox="1"/>
          <p:nvPr>
            <p:ph type="title"/>
          </p:nvPr>
        </p:nvSpPr>
        <p:spPr>
          <a:xfrm>
            <a:off x="761975" y="955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Training Convergence</a:t>
            </a:r>
            <a:endParaRPr b="1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dbde0d0470_0_356"/>
          <p:cNvSpPr txBox="1"/>
          <p:nvPr>
            <p:ph idx="1" type="body"/>
          </p:nvPr>
        </p:nvSpPr>
        <p:spPr>
          <a:xfrm>
            <a:off x="1688824" y="1030494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69" name="Google Shape;569;g3dbde0d0470_0_356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3dbde0d0470_0_356"/>
          <p:cNvSpPr txBox="1"/>
          <p:nvPr>
            <p:ph idx="4294967295" type="sldNum"/>
          </p:nvPr>
        </p:nvSpPr>
        <p:spPr>
          <a:xfrm>
            <a:off x="10244552" y="641476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571" name="Google Shape;571;g3dbde0d0470_0_3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61430"/>
            <a:ext cx="12192000" cy="4935141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g3dbde0d0470_0_356"/>
          <p:cNvSpPr txBox="1"/>
          <p:nvPr>
            <p:ph type="title"/>
          </p:nvPr>
        </p:nvSpPr>
        <p:spPr>
          <a:xfrm>
            <a:off x="761975" y="955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Results: KPI Benchmarking</a:t>
            </a:r>
            <a:endParaRPr b="1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dbde0d0470_0_363"/>
          <p:cNvSpPr txBox="1"/>
          <p:nvPr>
            <p:ph idx="1" type="body"/>
          </p:nvPr>
        </p:nvSpPr>
        <p:spPr>
          <a:xfrm>
            <a:off x="1688850" y="1174201"/>
            <a:ext cx="8814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rPr lang="en-US" sz="3300"/>
              <a:t>Under bursty traffic</a:t>
            </a:r>
            <a:endParaRPr sz="33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78" name="Google Shape;578;g3dbde0d0470_0_363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dbde0d0470_0_363"/>
          <p:cNvSpPr txBox="1"/>
          <p:nvPr>
            <p:ph idx="4294967295" type="sldNum"/>
          </p:nvPr>
        </p:nvSpPr>
        <p:spPr>
          <a:xfrm>
            <a:off x="10244552" y="641476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580" name="Google Shape;580;g3dbde0d0470_0_3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" y="2000350"/>
            <a:ext cx="1219200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g3dbde0d0470_0_3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67302"/>
            <a:ext cx="12192001" cy="2424346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g3dbde0d0470_0_363"/>
          <p:cNvSpPr txBox="1"/>
          <p:nvPr>
            <p:ph type="title"/>
          </p:nvPr>
        </p:nvSpPr>
        <p:spPr>
          <a:xfrm>
            <a:off x="762000" y="269075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Pressure Scenarios &amp; Cumulative Completion</a:t>
            </a:r>
            <a:endParaRPr b="1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dbde0d0470_0_332"/>
          <p:cNvSpPr txBox="1"/>
          <p:nvPr>
            <p:ph idx="1" type="body"/>
          </p:nvPr>
        </p:nvSpPr>
        <p:spPr>
          <a:xfrm>
            <a:off x="1688824" y="1030494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88" name="Google Shape;588;g3dbde0d0470_0_332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g3dbde0d0470_0_332"/>
          <p:cNvSpPr txBox="1"/>
          <p:nvPr>
            <p:ph idx="4294967295" type="sldNum"/>
          </p:nvPr>
        </p:nvSpPr>
        <p:spPr>
          <a:xfrm>
            <a:off x="10244552" y="641476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590" name="Google Shape;590;g3dbde0d0470_0_332"/>
          <p:cNvPicPr preferRelativeResize="0"/>
          <p:nvPr/>
        </p:nvPicPr>
        <p:blipFill rotWithShape="1">
          <a:blip r:embed="rId3">
            <a:alphaModFix/>
          </a:blip>
          <a:srcRect b="1424" l="5037" r="1330" t="4873"/>
          <a:stretch/>
        </p:blipFill>
        <p:spPr>
          <a:xfrm>
            <a:off x="870400" y="857550"/>
            <a:ext cx="10451200" cy="59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g3dbde0d0470_0_332"/>
          <p:cNvSpPr txBox="1"/>
          <p:nvPr>
            <p:ph type="title"/>
          </p:nvPr>
        </p:nvSpPr>
        <p:spPr>
          <a:xfrm>
            <a:off x="761975" y="955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Project Outcomes</a:t>
            </a:r>
            <a:endParaRPr b="1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e79784054a_8_91"/>
          <p:cNvSpPr txBox="1"/>
          <p:nvPr>
            <p:ph idx="1" type="body"/>
          </p:nvPr>
        </p:nvSpPr>
        <p:spPr>
          <a:xfrm>
            <a:off x="1688824" y="1030494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97" name="Google Shape;597;g3e79784054a_8_91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e79784054a_8_91"/>
          <p:cNvSpPr txBox="1"/>
          <p:nvPr>
            <p:ph idx="4294967295" type="sldNum"/>
          </p:nvPr>
        </p:nvSpPr>
        <p:spPr>
          <a:xfrm>
            <a:off x="10244552" y="641476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599" name="Google Shape;599;g3e79784054a_8_91"/>
          <p:cNvPicPr preferRelativeResize="0"/>
          <p:nvPr/>
        </p:nvPicPr>
        <p:blipFill rotWithShape="1">
          <a:blip r:embed="rId3">
            <a:alphaModFix/>
          </a:blip>
          <a:srcRect b="2780" l="5321" r="1335" t="5164"/>
          <a:stretch/>
        </p:blipFill>
        <p:spPr>
          <a:xfrm>
            <a:off x="793250" y="849948"/>
            <a:ext cx="10605450" cy="592445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g3e79784054a_8_91"/>
          <p:cNvSpPr txBox="1"/>
          <p:nvPr>
            <p:ph type="title"/>
          </p:nvPr>
        </p:nvSpPr>
        <p:spPr>
          <a:xfrm>
            <a:off x="761975" y="955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Project Outcomes - Live Timeseries Plot</a:t>
            </a:r>
            <a:endParaRPr b="1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e79784054a_85_6487"/>
          <p:cNvSpPr txBox="1"/>
          <p:nvPr>
            <p:ph idx="1" type="body"/>
          </p:nvPr>
        </p:nvSpPr>
        <p:spPr>
          <a:xfrm>
            <a:off x="1688824" y="1030494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06" name="Google Shape;606;g3e79784054a_85_6487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g3e79784054a_85_6487"/>
          <p:cNvSpPr txBox="1"/>
          <p:nvPr>
            <p:ph idx="4294967295" type="sldNum"/>
          </p:nvPr>
        </p:nvSpPr>
        <p:spPr>
          <a:xfrm>
            <a:off x="10244552" y="641476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608" name="Google Shape;608;g3e79784054a_85_6487"/>
          <p:cNvSpPr txBox="1"/>
          <p:nvPr>
            <p:ph type="title"/>
          </p:nvPr>
        </p:nvSpPr>
        <p:spPr>
          <a:xfrm>
            <a:off x="761975" y="955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Project Outcomes - Demo</a:t>
            </a:r>
            <a:endParaRPr b="1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609" name="Google Shape;609;g3e79784054a_85_6487" title="sarthak_acc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975" y="789750"/>
            <a:ext cx="10668000" cy="606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e79784054a_8_119"/>
          <p:cNvSpPr txBox="1"/>
          <p:nvPr>
            <p:ph idx="1" type="body"/>
          </p:nvPr>
        </p:nvSpPr>
        <p:spPr>
          <a:xfrm>
            <a:off x="1688824" y="1030494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15" name="Google Shape;615;g3e79784054a_8_119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g3e79784054a_8_119"/>
          <p:cNvSpPr txBox="1"/>
          <p:nvPr>
            <p:ph idx="4294967295" type="sldNum"/>
          </p:nvPr>
        </p:nvSpPr>
        <p:spPr>
          <a:xfrm>
            <a:off x="10244552" y="641476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617" name="Google Shape;617;g3e79784054a_8_119"/>
          <p:cNvPicPr preferRelativeResize="0"/>
          <p:nvPr/>
        </p:nvPicPr>
        <p:blipFill rotWithShape="1">
          <a:blip r:embed="rId3">
            <a:alphaModFix/>
          </a:blip>
          <a:srcRect b="8321" l="3505" r="3783" t="3535"/>
          <a:stretch/>
        </p:blipFill>
        <p:spPr>
          <a:xfrm>
            <a:off x="1154904" y="807713"/>
            <a:ext cx="9882173" cy="56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g3e79784054a_8_119"/>
          <p:cNvSpPr txBox="1"/>
          <p:nvPr>
            <p:ph type="title"/>
          </p:nvPr>
        </p:nvSpPr>
        <p:spPr>
          <a:xfrm>
            <a:off x="761975" y="955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Project Outcomes - Masternode CLI</a:t>
            </a:r>
            <a:endParaRPr b="1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e79784054a_8_99"/>
          <p:cNvSpPr txBox="1"/>
          <p:nvPr>
            <p:ph idx="1" type="body"/>
          </p:nvPr>
        </p:nvSpPr>
        <p:spPr>
          <a:xfrm>
            <a:off x="1688824" y="1030494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24" name="Google Shape;624;g3e79784054a_8_99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g3e79784054a_8_99"/>
          <p:cNvSpPr txBox="1"/>
          <p:nvPr>
            <p:ph idx="4294967295" type="sldNum"/>
          </p:nvPr>
        </p:nvSpPr>
        <p:spPr>
          <a:xfrm>
            <a:off x="10244552" y="641476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626" name="Google Shape;626;g3e79784054a_8_99"/>
          <p:cNvPicPr preferRelativeResize="0"/>
          <p:nvPr/>
        </p:nvPicPr>
        <p:blipFill rotWithShape="1">
          <a:blip r:embed="rId3">
            <a:alphaModFix/>
          </a:blip>
          <a:srcRect b="7553" l="3441" r="3562" t="4108"/>
          <a:stretch/>
        </p:blipFill>
        <p:spPr>
          <a:xfrm>
            <a:off x="1146400" y="805575"/>
            <a:ext cx="9899203" cy="5661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g3e79784054a_8_99"/>
          <p:cNvSpPr txBox="1"/>
          <p:nvPr>
            <p:ph type="title"/>
          </p:nvPr>
        </p:nvSpPr>
        <p:spPr>
          <a:xfrm>
            <a:off x="761975" y="955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Project Outcomes - Docker Machines</a:t>
            </a:r>
            <a:endParaRPr b="1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e79784054a_8_110"/>
          <p:cNvSpPr txBox="1"/>
          <p:nvPr>
            <p:ph idx="1" type="body"/>
          </p:nvPr>
        </p:nvSpPr>
        <p:spPr>
          <a:xfrm>
            <a:off x="1688824" y="1030494"/>
            <a:ext cx="8814300" cy="52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33" name="Google Shape;633;g3e79784054a_8_110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3e79784054a_8_110"/>
          <p:cNvSpPr txBox="1"/>
          <p:nvPr>
            <p:ph idx="4294967295" type="sldNum"/>
          </p:nvPr>
        </p:nvSpPr>
        <p:spPr>
          <a:xfrm>
            <a:off x="10244552" y="641476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635" name="Google Shape;635;g3e79784054a_8_110"/>
          <p:cNvPicPr preferRelativeResize="0"/>
          <p:nvPr/>
        </p:nvPicPr>
        <p:blipFill rotWithShape="1">
          <a:blip r:embed="rId3">
            <a:alphaModFix/>
          </a:blip>
          <a:srcRect b="10442" l="0" r="0" t="0"/>
          <a:stretch/>
        </p:blipFill>
        <p:spPr>
          <a:xfrm>
            <a:off x="1318700" y="716025"/>
            <a:ext cx="9554550" cy="6141976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g3e79784054a_8_110"/>
          <p:cNvSpPr txBox="1"/>
          <p:nvPr>
            <p:ph type="title"/>
          </p:nvPr>
        </p:nvSpPr>
        <p:spPr>
          <a:xfrm>
            <a:off x="761975" y="955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Project Outcomes - Database &amp; </a:t>
            </a: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Worker Registry</a:t>
            </a:r>
            <a:endParaRPr b="1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8" id="641" name="Google Shape;641;g3e79784054a_85_19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775" y="6356351"/>
            <a:ext cx="1093084" cy="407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2" name="Google Shape;642;g3e79784054a_85_1946"/>
          <p:cNvGrpSpPr/>
          <p:nvPr/>
        </p:nvGrpSpPr>
        <p:grpSpPr>
          <a:xfrm>
            <a:off x="762000" y="381000"/>
            <a:ext cx="10668000" cy="762000"/>
            <a:chOff x="762000" y="381000"/>
            <a:chExt cx="10668000" cy="762000"/>
          </a:xfrm>
        </p:grpSpPr>
        <p:sp>
          <p:nvSpPr>
            <p:cNvPr id="643" name="Google Shape;643;g3e79784054a_85_1946"/>
            <p:cNvSpPr/>
            <p:nvPr/>
          </p:nvSpPr>
          <p:spPr>
            <a:xfrm>
              <a:off x="762000" y="381000"/>
              <a:ext cx="10668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g3e79784054a_85_1946"/>
            <p:cNvSpPr txBox="1"/>
            <p:nvPr/>
          </p:nvSpPr>
          <p:spPr>
            <a:xfrm>
              <a:off x="762000" y="38100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Novelty &amp; Project Contributions</a:t>
              </a:r>
              <a:endParaRPr b="1" sz="40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645" name="Google Shape;645;g3e79784054a_85_1946"/>
          <p:cNvGrpSpPr/>
          <p:nvPr/>
        </p:nvGrpSpPr>
        <p:grpSpPr>
          <a:xfrm>
            <a:off x="762000" y="1333500"/>
            <a:ext cx="5048400" cy="2190900"/>
            <a:chOff x="762000" y="1333500"/>
            <a:chExt cx="5048400" cy="2190900"/>
          </a:xfrm>
        </p:grpSpPr>
        <p:sp>
          <p:nvSpPr>
            <p:cNvPr id="646" name="Google Shape;646;g3e79784054a_85_1946"/>
            <p:cNvSpPr/>
            <p:nvPr/>
          </p:nvSpPr>
          <p:spPr>
            <a:xfrm>
              <a:off x="762000" y="1333500"/>
              <a:ext cx="50484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g3e79784054a_85_1946"/>
            <p:cNvSpPr txBox="1"/>
            <p:nvPr/>
          </p:nvSpPr>
          <p:spPr>
            <a:xfrm>
              <a:off x="762000" y="1333500"/>
              <a:ext cx="5048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100">
                  <a:solidFill>
                    <a:srgbClr val="8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architecture</a:t>
              </a:r>
              <a:endParaRPr sz="4100">
                <a:solidFill>
                  <a:srgbClr val="8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Framework Development</a:t>
              </a:r>
              <a:endParaRPr b="1" sz="25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100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Designed and built the Go master-worker framework from scratch.</a:t>
              </a:r>
              <a:endParaRPr b="0" sz="21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648" name="Google Shape;648;g3e79784054a_85_1946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9" name="Google Shape;649;g3e79784054a_85_1946"/>
          <p:cNvGrpSpPr/>
          <p:nvPr/>
        </p:nvGrpSpPr>
        <p:grpSpPr>
          <a:xfrm>
            <a:off x="6381750" y="1333500"/>
            <a:ext cx="5048400" cy="2190900"/>
            <a:chOff x="6381750" y="1333500"/>
            <a:chExt cx="5048400" cy="2190900"/>
          </a:xfrm>
        </p:grpSpPr>
        <p:sp>
          <p:nvSpPr>
            <p:cNvPr id="650" name="Google Shape;650;g3e79784054a_85_1946"/>
            <p:cNvSpPr/>
            <p:nvPr/>
          </p:nvSpPr>
          <p:spPr>
            <a:xfrm>
              <a:off x="6381750" y="1333500"/>
              <a:ext cx="50484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g3e79784054a_85_1946"/>
            <p:cNvSpPr txBox="1"/>
            <p:nvPr/>
          </p:nvSpPr>
          <p:spPr>
            <a:xfrm>
              <a:off x="6381750" y="1333500"/>
              <a:ext cx="5048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100">
                  <a:solidFill>
                    <a:srgbClr val="8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settings_ethernet</a:t>
              </a:r>
              <a:endParaRPr sz="4100">
                <a:solidFill>
                  <a:srgbClr val="8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System Integration</a:t>
              </a:r>
              <a:endParaRPr b="1" sz="25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100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Engineered the clean scheduler integration boundary and gRPC communications.</a:t>
              </a:r>
              <a:endParaRPr b="0" sz="21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652" name="Google Shape;652;g3e79784054a_85_1946"/>
          <p:cNvSpPr txBox="1"/>
          <p:nvPr>
            <p:ph idx="4294967295" type="sldNum"/>
          </p:nvPr>
        </p:nvSpPr>
        <p:spPr>
          <a:xfrm>
            <a:off x="10244552" y="641476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pSp>
        <p:nvGrpSpPr>
          <p:cNvPr id="653" name="Google Shape;653;g3e79784054a_85_1946"/>
          <p:cNvGrpSpPr/>
          <p:nvPr/>
        </p:nvGrpSpPr>
        <p:grpSpPr>
          <a:xfrm>
            <a:off x="762000" y="3714750"/>
            <a:ext cx="5048400" cy="2190900"/>
            <a:chOff x="762000" y="3714750"/>
            <a:chExt cx="5048400" cy="2190900"/>
          </a:xfrm>
        </p:grpSpPr>
        <p:sp>
          <p:nvSpPr>
            <p:cNvPr id="654" name="Google Shape;654;g3e79784054a_85_1946"/>
            <p:cNvSpPr/>
            <p:nvPr/>
          </p:nvSpPr>
          <p:spPr>
            <a:xfrm>
              <a:off x="762000" y="3714750"/>
              <a:ext cx="50484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g3e79784054a_85_1946"/>
            <p:cNvSpPr txBox="1"/>
            <p:nvPr/>
          </p:nvSpPr>
          <p:spPr>
            <a:xfrm>
              <a:off x="762000" y="3714750"/>
              <a:ext cx="5048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100">
                  <a:solidFill>
                    <a:srgbClr val="8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model_training</a:t>
              </a:r>
              <a:endParaRPr sz="4100">
                <a:solidFill>
                  <a:srgbClr val="8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ML Pipeline &amp; Env</a:t>
              </a:r>
              <a:endParaRPr b="1" sz="25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100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Developed the PPO training pipeline and trace replay environment.</a:t>
              </a:r>
              <a:endParaRPr b="0" sz="21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656" name="Google Shape;656;g3e79784054a_85_1946"/>
          <p:cNvGrpSpPr/>
          <p:nvPr/>
        </p:nvGrpSpPr>
        <p:grpSpPr>
          <a:xfrm>
            <a:off x="6381750" y="3714750"/>
            <a:ext cx="5048400" cy="2190900"/>
            <a:chOff x="6381750" y="3714750"/>
            <a:chExt cx="5048400" cy="2190900"/>
          </a:xfrm>
        </p:grpSpPr>
        <p:sp>
          <p:nvSpPr>
            <p:cNvPr id="657" name="Google Shape;657;g3e79784054a_85_1946"/>
            <p:cNvSpPr/>
            <p:nvPr/>
          </p:nvSpPr>
          <p:spPr>
            <a:xfrm>
              <a:off x="6381750" y="3714750"/>
              <a:ext cx="50484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g3e79784054a_85_1946"/>
            <p:cNvSpPr txBox="1"/>
            <p:nvPr/>
          </p:nvSpPr>
          <p:spPr>
            <a:xfrm>
              <a:off x="6381750" y="3714750"/>
              <a:ext cx="50484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38125" lIns="238125" spcFirstLastPara="1" rIns="238125" wrap="square" tIns="238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100">
                  <a:solidFill>
                    <a:srgbClr val="8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gpp_good</a:t>
              </a:r>
              <a:endParaRPr sz="4100">
                <a:solidFill>
                  <a:srgbClr val="8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25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Fault Tolerance</a:t>
              </a:r>
              <a:endParaRPr b="1" sz="25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100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Implemented attempt-level recovery logic for fault tolerance.</a:t>
              </a:r>
              <a:endParaRPr b="0" sz="21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8" id="663" name="Google Shape;663;g3e79784054a_85_15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775" y="6356351"/>
            <a:ext cx="1093084" cy="40727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g3e79784054a_85_1566"/>
          <p:cNvSpPr txBox="1"/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Learning outcomes</a:t>
            </a:r>
            <a:endParaRPr b="1" i="0" sz="44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665" name="Google Shape;665;g3e79784054a_85_1566"/>
          <p:cNvGrpSpPr/>
          <p:nvPr/>
        </p:nvGrpSpPr>
        <p:grpSpPr>
          <a:xfrm>
            <a:off x="762000" y="1333500"/>
            <a:ext cx="5143500" cy="4572000"/>
            <a:chOff x="762000" y="1333500"/>
            <a:chExt cx="5143500" cy="4572000"/>
          </a:xfrm>
        </p:grpSpPr>
        <p:sp>
          <p:nvSpPr>
            <p:cNvPr id="666" name="Google Shape;666;g3e79784054a_85_1566"/>
            <p:cNvSpPr/>
            <p:nvPr/>
          </p:nvSpPr>
          <p:spPr>
            <a:xfrm>
              <a:off x="762000" y="1333500"/>
              <a:ext cx="5143500" cy="4572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g3e79784054a_85_1566"/>
            <p:cNvSpPr txBox="1"/>
            <p:nvPr/>
          </p:nvSpPr>
          <p:spPr>
            <a:xfrm>
              <a:off x="762000" y="1333500"/>
              <a:ext cx="51435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0" lIns="381000" spcFirstLastPara="1" rIns="381000" wrap="square" tIns="381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100">
                  <a:solidFill>
                    <a:srgbClr val="8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7100">
                <a:solidFill>
                  <a:srgbClr val="8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35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Distributed Systems</a:t>
              </a:r>
              <a:endParaRPr b="1" sz="35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0" lang="en-US" sz="2700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Learned the criticality of strict state handling, retries, and clean API boundaries.</a:t>
              </a:r>
              <a:endParaRPr b="0" sz="27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668" name="Google Shape;668;g3e79784054a_85_1566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69" name="Google Shape;669;g3e79784054a_85_1566"/>
          <p:cNvGrpSpPr/>
          <p:nvPr/>
        </p:nvGrpSpPr>
        <p:grpSpPr>
          <a:xfrm>
            <a:off x="6286500" y="1333500"/>
            <a:ext cx="5143500" cy="4572000"/>
            <a:chOff x="6286500" y="1333500"/>
            <a:chExt cx="5143500" cy="4572000"/>
          </a:xfrm>
        </p:grpSpPr>
        <p:sp>
          <p:nvSpPr>
            <p:cNvPr id="670" name="Google Shape;670;g3e79784054a_85_1566"/>
            <p:cNvSpPr/>
            <p:nvPr/>
          </p:nvSpPr>
          <p:spPr>
            <a:xfrm>
              <a:off x="6286500" y="1333500"/>
              <a:ext cx="5143500" cy="45720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g3e79784054a_85_1566"/>
            <p:cNvSpPr txBox="1"/>
            <p:nvPr/>
          </p:nvSpPr>
          <p:spPr>
            <a:xfrm>
              <a:off x="6286500" y="1333500"/>
              <a:ext cx="5143500" cy="45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0" lIns="381000" spcFirstLastPara="1" rIns="381000" wrap="square" tIns="381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0">
                  <a:solidFill>
                    <a:srgbClr val="8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7000">
                <a:solidFill>
                  <a:srgbClr val="8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Reinforcement Learning</a:t>
              </a:r>
              <a:endParaRPr b="1" sz="34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b="0" lang="en-US" sz="2600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Realized the impact of reward shaping and safe deployment strategies.</a:t>
              </a:r>
              <a:endParaRPr b="0" sz="26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672" name="Google Shape;672;g3e79784054a_85_1566"/>
          <p:cNvSpPr txBox="1"/>
          <p:nvPr>
            <p:ph idx="4294967295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8" id="677" name="Google Shape;677;g3e79784054a_85_1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775" y="6356351"/>
            <a:ext cx="1093084" cy="40727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g3e79784054a_85_1191"/>
          <p:cNvSpPr txBox="1"/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Future Work: CRIU Integration</a:t>
            </a:r>
            <a:endParaRPr b="1" i="0" sz="44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pSp>
        <p:nvGrpSpPr>
          <p:cNvPr id="679" name="Google Shape;679;g3e79784054a_85_1191"/>
          <p:cNvGrpSpPr/>
          <p:nvPr/>
        </p:nvGrpSpPr>
        <p:grpSpPr>
          <a:xfrm>
            <a:off x="762000" y="1333500"/>
            <a:ext cx="6477000" cy="1905000"/>
            <a:chOff x="762000" y="1333500"/>
            <a:chExt cx="6477000" cy="1905000"/>
          </a:xfrm>
        </p:grpSpPr>
        <p:sp>
          <p:nvSpPr>
            <p:cNvPr id="680" name="Google Shape;680;g3e79784054a_85_1191"/>
            <p:cNvSpPr/>
            <p:nvPr/>
          </p:nvSpPr>
          <p:spPr>
            <a:xfrm>
              <a:off x="762000" y="1333500"/>
              <a:ext cx="6477000" cy="1905000"/>
            </a:xfrm>
            <a:prstGeom prst="roundRect">
              <a:avLst>
                <a:gd fmla="val 8333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g3e79784054a_85_1191"/>
            <p:cNvSpPr txBox="1"/>
            <p:nvPr/>
          </p:nvSpPr>
          <p:spPr>
            <a:xfrm>
              <a:off x="952500" y="1333500"/>
              <a:ext cx="6096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CRIU (Checkpoint/Restore In Userspace) provides kernel-level support for freezing, dumping, and restoring process states on demand.</a:t>
              </a:r>
              <a:endParaRPr sz="26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682" name="Google Shape;682;g3e79784054a_85_1191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g3e79784054a_85_1191"/>
          <p:cNvSpPr txBox="1"/>
          <p:nvPr/>
        </p:nvSpPr>
        <p:spPr>
          <a:xfrm>
            <a:off x="762075" y="342900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  <a:latin typeface="Garamond"/>
                <a:ea typeface="Garamond"/>
                <a:cs typeface="Garamond"/>
                <a:sym typeface="Garamond"/>
              </a:rPr>
              <a:t>Key Benefits:</a:t>
            </a:r>
            <a:endParaRPr b="1" sz="2400">
              <a:solidFill>
                <a:srgbClr val="00000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84" name="Google Shape;684;g3e79784054a_85_1191"/>
          <p:cNvSpPr txBox="1"/>
          <p:nvPr>
            <p:ph idx="4294967295" type="sldNum"/>
          </p:nvPr>
        </p:nvSpPr>
        <p:spPr>
          <a:xfrm>
            <a:off x="10244554" y="6414762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grpSp>
        <p:nvGrpSpPr>
          <p:cNvPr id="685" name="Google Shape;685;g3e79784054a_85_1191"/>
          <p:cNvGrpSpPr/>
          <p:nvPr/>
        </p:nvGrpSpPr>
        <p:grpSpPr>
          <a:xfrm>
            <a:off x="762075" y="4000500"/>
            <a:ext cx="2000100" cy="1905000"/>
            <a:chOff x="762000" y="3333750"/>
            <a:chExt cx="2000100" cy="1905000"/>
          </a:xfrm>
        </p:grpSpPr>
        <p:sp>
          <p:nvSpPr>
            <p:cNvPr id="686" name="Google Shape;686;g3e79784054a_85_1191"/>
            <p:cNvSpPr/>
            <p:nvPr/>
          </p:nvSpPr>
          <p:spPr>
            <a:xfrm>
              <a:off x="762000" y="3333750"/>
              <a:ext cx="2000100" cy="1905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g3e79784054a_85_1191"/>
            <p:cNvSpPr txBox="1"/>
            <p:nvPr/>
          </p:nvSpPr>
          <p:spPr>
            <a:xfrm>
              <a:off x="762000" y="3333750"/>
              <a:ext cx="20001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300">
                  <a:solidFill>
                    <a:srgbClr val="8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inventory_2</a:t>
              </a:r>
              <a:endParaRPr sz="4300">
                <a:solidFill>
                  <a:srgbClr val="8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Container Migration</a:t>
              </a:r>
              <a:endParaRPr b="1" sz="21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688" name="Google Shape;688;g3e79784054a_85_1191"/>
          <p:cNvGrpSpPr/>
          <p:nvPr/>
        </p:nvGrpSpPr>
        <p:grpSpPr>
          <a:xfrm>
            <a:off x="3000450" y="4000500"/>
            <a:ext cx="2000100" cy="1905000"/>
            <a:chOff x="3000375" y="3333750"/>
            <a:chExt cx="2000100" cy="1905000"/>
          </a:xfrm>
        </p:grpSpPr>
        <p:sp>
          <p:nvSpPr>
            <p:cNvPr id="689" name="Google Shape;689;g3e79784054a_85_1191"/>
            <p:cNvSpPr/>
            <p:nvPr/>
          </p:nvSpPr>
          <p:spPr>
            <a:xfrm>
              <a:off x="3000375" y="3333750"/>
              <a:ext cx="2000100" cy="1905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g3e79784054a_85_1191"/>
            <p:cNvSpPr txBox="1"/>
            <p:nvPr/>
          </p:nvSpPr>
          <p:spPr>
            <a:xfrm>
              <a:off x="3000375" y="3333750"/>
              <a:ext cx="20001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300">
                  <a:solidFill>
                    <a:srgbClr val="8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hourglass_empty</a:t>
              </a:r>
              <a:endParaRPr sz="4300">
                <a:solidFill>
                  <a:srgbClr val="8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Task Preemption</a:t>
              </a:r>
              <a:endParaRPr b="1" sz="21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691" name="Google Shape;691;g3e79784054a_85_1191"/>
          <p:cNvGrpSpPr/>
          <p:nvPr/>
        </p:nvGrpSpPr>
        <p:grpSpPr>
          <a:xfrm>
            <a:off x="5238825" y="4000500"/>
            <a:ext cx="2000100" cy="1905000"/>
            <a:chOff x="5238750" y="3333750"/>
            <a:chExt cx="2000100" cy="1905000"/>
          </a:xfrm>
        </p:grpSpPr>
        <p:sp>
          <p:nvSpPr>
            <p:cNvPr id="692" name="Google Shape;692;g3e79784054a_85_1191"/>
            <p:cNvSpPr/>
            <p:nvPr/>
          </p:nvSpPr>
          <p:spPr>
            <a:xfrm>
              <a:off x="5238750" y="3333750"/>
              <a:ext cx="2000100" cy="1905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g3e79784054a_85_1191"/>
            <p:cNvSpPr txBox="1"/>
            <p:nvPr/>
          </p:nvSpPr>
          <p:spPr>
            <a:xfrm>
              <a:off x="5238750" y="3333750"/>
              <a:ext cx="20001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300">
                  <a:solidFill>
                    <a:srgbClr val="80000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healing</a:t>
              </a:r>
              <a:endParaRPr sz="4300">
                <a:solidFill>
                  <a:srgbClr val="80000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1A1A1A"/>
                  </a:solidFill>
                  <a:latin typeface="Garamond"/>
                  <a:ea typeface="Garamond"/>
                  <a:cs typeface="Garamond"/>
                  <a:sym typeface="Garamond"/>
                </a:rPr>
                <a:t>Failed Worker Recovery</a:t>
              </a:r>
              <a:endParaRPr b="1" sz="2100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grpSp>
        <p:nvGrpSpPr>
          <p:cNvPr id="694" name="Google Shape;694;g3e79784054a_85_1191"/>
          <p:cNvGrpSpPr/>
          <p:nvPr/>
        </p:nvGrpSpPr>
        <p:grpSpPr>
          <a:xfrm>
            <a:off x="7810500" y="1476300"/>
            <a:ext cx="3619500" cy="3905400"/>
            <a:chOff x="8024025" y="1333500"/>
            <a:chExt cx="3619500" cy="3905400"/>
          </a:xfrm>
        </p:grpSpPr>
        <p:grpSp>
          <p:nvGrpSpPr>
            <p:cNvPr id="695" name="Google Shape;695;g3e79784054a_85_1191"/>
            <p:cNvGrpSpPr/>
            <p:nvPr/>
          </p:nvGrpSpPr>
          <p:grpSpPr>
            <a:xfrm>
              <a:off x="8024025" y="1333500"/>
              <a:ext cx="3619500" cy="3619500"/>
              <a:chOff x="7675675" y="1333650"/>
              <a:chExt cx="3619500" cy="3619500"/>
            </a:xfrm>
          </p:grpSpPr>
          <p:sp>
            <p:nvSpPr>
              <p:cNvPr id="696" name="Google Shape;696;g3e79784054a_85_1191"/>
              <p:cNvSpPr/>
              <p:nvPr/>
            </p:nvSpPr>
            <p:spPr>
              <a:xfrm>
                <a:off x="7675675" y="1333650"/>
                <a:ext cx="3619500" cy="3619500"/>
              </a:xfrm>
              <a:prstGeom prst="roundRect">
                <a:avLst>
                  <a:gd fmla="val 50000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97" name="Google Shape;697;g3e79784054a_85_1191"/>
              <p:cNvPicPr preferRelativeResize="0"/>
              <p:nvPr/>
            </p:nvPicPr>
            <p:blipFill rotWithShape="1">
              <a:blip r:embed="rId4">
                <a:alphaModFix/>
              </a:blip>
              <a:srcRect b="0" l="1914" r="1914" t="0"/>
              <a:stretch/>
            </p:blipFill>
            <p:spPr>
              <a:xfrm>
                <a:off x="7928275" y="1524000"/>
                <a:ext cx="3114300" cy="3238800"/>
              </a:xfrm>
              <a:prstGeom prst="roundRect">
                <a:avLst>
                  <a:gd fmla="val 50000" name="adj"/>
                </a:avLst>
              </a:prstGeom>
              <a:noFill/>
              <a:ln>
                <a:noFill/>
              </a:ln>
            </p:spPr>
          </p:pic>
        </p:grpSp>
        <p:sp>
          <p:nvSpPr>
            <p:cNvPr id="698" name="Google Shape;698;g3e79784054a_85_1191"/>
            <p:cNvSpPr txBox="1"/>
            <p:nvPr/>
          </p:nvSpPr>
          <p:spPr>
            <a:xfrm>
              <a:off x="8207922" y="4953000"/>
              <a:ext cx="2857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888888"/>
                  </a:solidFill>
                  <a:latin typeface="Calibri"/>
                  <a:ea typeface="Calibri"/>
                  <a:cs typeface="Calibri"/>
                  <a:sym typeface="Calibri"/>
                </a:rPr>
                <a:t>Source: </a:t>
              </a:r>
              <a:r>
                <a:rPr lang="en-US" sz="11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5"/>
                </a:rPr>
                <a:t>github.com/checkpoint-restore/criu</a:t>
              </a:r>
              <a:endParaRPr sz="11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3"/>
          <p:cNvSpPr txBox="1"/>
          <p:nvPr>
            <p:ph idx="1" type="body"/>
          </p:nvPr>
        </p:nvSpPr>
        <p:spPr>
          <a:xfrm>
            <a:off x="1688824" y="1030494"/>
            <a:ext cx="8814352" cy="5211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</a:pPr>
            <a:r>
              <a:t/>
            </a:r>
            <a:endParaRPr sz="28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04" name="Google Shape;704;p13"/>
          <p:cNvSpPr txBox="1"/>
          <p:nvPr/>
        </p:nvSpPr>
        <p:spPr>
          <a:xfrm>
            <a:off x="1734543" y="6414762"/>
            <a:ext cx="196596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3"/>
          <p:cNvSpPr txBox="1"/>
          <p:nvPr>
            <p:ph idx="4294967295" type="sldNum"/>
          </p:nvPr>
        </p:nvSpPr>
        <p:spPr>
          <a:xfrm>
            <a:off x="10244552" y="6414761"/>
            <a:ext cx="258622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pic>
        <p:nvPicPr>
          <p:cNvPr id="706" name="Google Shape;70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41915"/>
            <a:ext cx="12192000" cy="337417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13"/>
          <p:cNvSpPr txBox="1"/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Gantt Chart</a:t>
            </a:r>
            <a:endParaRPr b="1" i="0" sz="44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8" id="712" name="Google Shape;712;g3e79784054a_85_8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775" y="6356351"/>
            <a:ext cx="1093084" cy="407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3" name="Google Shape;713;g3e79784054a_85_823"/>
          <p:cNvGrpSpPr/>
          <p:nvPr/>
        </p:nvGrpSpPr>
        <p:grpSpPr>
          <a:xfrm>
            <a:off x="762000" y="1333500"/>
            <a:ext cx="10668150" cy="4000500"/>
            <a:chOff x="762000" y="1333500"/>
            <a:chExt cx="10668150" cy="4000500"/>
          </a:xfrm>
        </p:grpSpPr>
        <p:sp>
          <p:nvSpPr>
            <p:cNvPr id="714" name="Google Shape;714;g3e79784054a_85_823"/>
            <p:cNvSpPr/>
            <p:nvPr/>
          </p:nvSpPr>
          <p:spPr>
            <a:xfrm>
              <a:off x="762000" y="1333500"/>
              <a:ext cx="3333900" cy="4000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g3e79784054a_85_823"/>
            <p:cNvSpPr txBox="1"/>
            <p:nvPr/>
          </p:nvSpPr>
          <p:spPr>
            <a:xfrm>
              <a:off x="762000" y="1333500"/>
              <a:ext cx="33339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</a:t>
              </a:r>
              <a:endParaRPr sz="56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Companies</a:t>
              </a:r>
              <a:endParaRPr b="1" sz="32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666666"/>
                  </a:solidFill>
                  <a:latin typeface="Garamond"/>
                  <a:ea typeface="Garamond"/>
                  <a:cs typeface="Garamond"/>
                  <a:sym typeface="Garamond"/>
                </a:rPr>
                <a:t>Better handling of burstier traffic</a:t>
              </a:r>
              <a:endParaRPr sz="2600">
                <a:solidFill>
                  <a:srgbClr val="666666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716" name="Google Shape;716;g3e79784054a_85_823"/>
            <p:cNvSpPr/>
            <p:nvPr/>
          </p:nvSpPr>
          <p:spPr>
            <a:xfrm>
              <a:off x="4429125" y="1333500"/>
              <a:ext cx="3333900" cy="4000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g3e79784054a_85_823"/>
            <p:cNvSpPr txBox="1"/>
            <p:nvPr/>
          </p:nvSpPr>
          <p:spPr>
            <a:xfrm>
              <a:off x="4429125" y="1333500"/>
              <a:ext cx="33339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code</a:t>
              </a:r>
              <a:endParaRPr sz="56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Developers</a:t>
              </a:r>
              <a:endParaRPr b="1" sz="32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666666"/>
                  </a:solidFill>
                  <a:latin typeface="Garamond"/>
                  <a:ea typeface="Garamond"/>
                  <a:cs typeface="Garamond"/>
                  <a:sym typeface="Garamond"/>
                </a:rPr>
                <a:t>Automate scheduling, fewer manual deployments</a:t>
              </a:r>
              <a:endParaRPr sz="2600">
                <a:solidFill>
                  <a:srgbClr val="666666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  <p:sp>
          <p:nvSpPr>
            <p:cNvPr id="718" name="Google Shape;718;g3e79784054a_85_823"/>
            <p:cNvSpPr/>
            <p:nvPr/>
          </p:nvSpPr>
          <p:spPr>
            <a:xfrm>
              <a:off x="8096250" y="1333500"/>
              <a:ext cx="3333900" cy="40005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D1D1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g3e79784054a_85_823"/>
            <p:cNvSpPr txBox="1"/>
            <p:nvPr/>
          </p:nvSpPr>
          <p:spPr>
            <a:xfrm>
              <a:off x="8096250" y="1333500"/>
              <a:ext cx="33339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00">
                  <a:solidFill>
                    <a:srgbClr val="1A73E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5600">
                <a:solidFill>
                  <a:srgbClr val="1A73E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333333"/>
                  </a:solidFill>
                  <a:latin typeface="Garamond"/>
                  <a:ea typeface="Garamond"/>
                  <a:cs typeface="Garamond"/>
                  <a:sym typeface="Garamond"/>
                </a:rPr>
                <a:t>Users</a:t>
              </a:r>
              <a:endParaRPr b="1" sz="32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2600">
                  <a:solidFill>
                    <a:srgbClr val="666666"/>
                  </a:solidFill>
                  <a:latin typeface="Garamond"/>
                  <a:ea typeface="Garamond"/>
                  <a:cs typeface="Garamond"/>
                  <a:sym typeface="Garamond"/>
                </a:rPr>
                <a:t>Faster, more reliable services</a:t>
              </a:r>
              <a:endParaRPr sz="2600">
                <a:solidFill>
                  <a:srgbClr val="666666"/>
                </a:solidFill>
                <a:latin typeface="Garamond"/>
                <a:ea typeface="Garamond"/>
                <a:cs typeface="Garamond"/>
                <a:sym typeface="Garamond"/>
              </a:endParaRPr>
            </a:p>
          </p:txBody>
        </p:sp>
      </p:grpSp>
      <p:sp>
        <p:nvSpPr>
          <p:cNvPr id="720" name="Google Shape;720;g3e79784054a_85_823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g3e79784054a_85_823"/>
          <p:cNvSpPr txBox="1"/>
          <p:nvPr>
            <p:ph idx="4294967295" type="sldNum"/>
          </p:nvPr>
        </p:nvSpPr>
        <p:spPr>
          <a:xfrm>
            <a:off x="10244552" y="641476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722" name="Google Shape;722;g3e79784054a_85_823"/>
          <p:cNvSpPr txBox="1"/>
          <p:nvPr>
            <p:ph type="title"/>
          </p:nvPr>
        </p:nvSpPr>
        <p:spPr>
          <a:xfrm>
            <a:off x="762000" y="3810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Beneficiaries of my work</a:t>
            </a:r>
            <a:endParaRPr b="1" i="0" sz="4400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e79784054a_8_248"/>
          <p:cNvSpPr txBox="1"/>
          <p:nvPr>
            <p:ph idx="1" type="body"/>
          </p:nvPr>
        </p:nvSpPr>
        <p:spPr>
          <a:xfrm>
            <a:off x="762000" y="1333500"/>
            <a:ext cx="106680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Garamond"/>
              <a:buChar char="●"/>
            </a:pPr>
            <a:r>
              <a:rPr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Gu, Y., Liu, Z., Dai, S., Liu, C., Wang, Y., Wang, S., Theodoropoulos, G., &amp; Cheng, L. (2025, January 2). </a:t>
            </a:r>
            <a:r>
              <a:rPr i="1"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Deep Reinforcement Learning for job scheduling and Resource Management in Cloud Computing: An Algorithm-Level Review.</a:t>
            </a:r>
            <a:r>
              <a:rPr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 arXiv.org. </a:t>
            </a:r>
            <a:r>
              <a:rPr lang="en-US" sz="2300" u="sng">
                <a:solidFill>
                  <a:srgbClr val="800000"/>
                </a:solidFill>
                <a:latin typeface="Garamond"/>
                <a:ea typeface="Garamond"/>
                <a:cs typeface="Garamond"/>
                <a:sym typeface="Garamo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https://arxiv.org/abs/2501.01007</a:t>
            </a:r>
            <a:endParaRPr sz="2300">
              <a:solidFill>
                <a:srgbClr val="3333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74650" lvl="0" marL="457200" rtl="0" algn="l">
              <a:spcBef>
                <a:spcPts val="180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Garamond"/>
              <a:buChar char="●"/>
            </a:pPr>
            <a:r>
              <a:rPr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Schulman, J., Wolski, F., Dhariwal, P., Radford, A., &amp; Klimov, O. (2017, July 20). </a:t>
            </a:r>
            <a:r>
              <a:rPr i="1"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Proximal Policy optimization Algorithms.</a:t>
            </a:r>
            <a:r>
              <a:rPr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 arXiv.org. </a:t>
            </a:r>
            <a:r>
              <a:rPr lang="en-US" sz="2300" u="sng">
                <a:solidFill>
                  <a:srgbClr val="800000"/>
                </a:solidFill>
                <a:latin typeface="Garamond"/>
                <a:ea typeface="Garamond"/>
                <a:cs typeface="Garamond"/>
                <a:sym typeface="Garamo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https://arxiv.org/abs/1707.06347</a:t>
            </a:r>
            <a:endParaRPr sz="2300">
              <a:solidFill>
                <a:srgbClr val="3333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74650" lvl="0" marL="457200" rtl="0" algn="l">
              <a:spcBef>
                <a:spcPts val="180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Garamond"/>
              <a:buChar char="●"/>
            </a:pPr>
            <a:r>
              <a:rPr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Alibaba. (2018). </a:t>
            </a:r>
            <a:r>
              <a:rPr i="1"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Alibaba cluster data.</a:t>
            </a:r>
            <a:r>
              <a:rPr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 Cluster traces released for cluster management research. </a:t>
            </a:r>
            <a:r>
              <a:rPr lang="en-US" sz="2300" u="sng">
                <a:solidFill>
                  <a:srgbClr val="800000"/>
                </a:solidFill>
                <a:latin typeface="Garamond"/>
                <a:ea typeface="Garamond"/>
                <a:cs typeface="Garamond"/>
                <a:sym typeface="Garamo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https://github.com/alibaba/clusterdata</a:t>
            </a:r>
            <a:endParaRPr sz="2300">
              <a:solidFill>
                <a:srgbClr val="3333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74650" lvl="0" marL="457200" rtl="0" algn="l">
              <a:spcBef>
                <a:spcPts val="180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Garamond"/>
              <a:buChar char="●"/>
            </a:pPr>
            <a:r>
              <a:rPr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Apache Software Foundation. (n.d.). </a:t>
            </a:r>
            <a:r>
              <a:rPr i="1"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Welcome to Apache YuniKorn.</a:t>
            </a:r>
            <a:r>
              <a:rPr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2300" u="sng">
                <a:solidFill>
                  <a:srgbClr val="800000"/>
                </a:solidFill>
                <a:latin typeface="Garamond"/>
                <a:ea typeface="Garamond"/>
                <a:cs typeface="Garamond"/>
                <a:sym typeface="Garamo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https://yunikorn.apache.org/</a:t>
            </a:r>
            <a:endParaRPr sz="2300">
              <a:solidFill>
                <a:srgbClr val="3333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74650" lvl="0" marL="457200" rtl="0" algn="l">
              <a:spcBef>
                <a:spcPts val="180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Garamond"/>
              <a:buChar char="●"/>
            </a:pPr>
            <a:r>
              <a:rPr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Kubernetes. (n.d.). </a:t>
            </a:r>
            <a:r>
              <a:rPr i="1"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Kubernetes documentation.</a:t>
            </a:r>
            <a:r>
              <a:rPr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2300" u="sng">
                <a:solidFill>
                  <a:srgbClr val="800000"/>
                </a:solidFill>
                <a:latin typeface="Garamond"/>
                <a:ea typeface="Garamond"/>
                <a:cs typeface="Garamond"/>
                <a:sym typeface="Garamond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https://kubernetes.io/docs/home/</a:t>
            </a:r>
            <a:endParaRPr sz="2300">
              <a:solidFill>
                <a:srgbClr val="333333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-374650" lvl="0" marL="457200" rtl="0" algn="l">
              <a:spcBef>
                <a:spcPts val="1800"/>
              </a:spcBef>
              <a:spcAft>
                <a:spcPts val="1800"/>
              </a:spcAft>
              <a:buClr>
                <a:srgbClr val="333333"/>
              </a:buClr>
              <a:buSzPts val="2300"/>
              <a:buFont typeface="Garamond"/>
              <a:buChar char="●"/>
            </a:pPr>
            <a:r>
              <a:rPr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CRIU. (n.d.). </a:t>
            </a:r>
            <a:r>
              <a:rPr i="1"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Checkpoint/Restore In Userspace.</a:t>
            </a:r>
            <a:r>
              <a:rPr lang="en-US" sz="2300">
                <a:solidFill>
                  <a:srgbClr val="333333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lang="en-US" sz="2300" u="sng">
                <a:solidFill>
                  <a:srgbClr val="800000"/>
                </a:solidFill>
                <a:latin typeface="Garamond"/>
                <a:ea typeface="Garamond"/>
                <a:cs typeface="Garamond"/>
                <a:sym typeface="Garamond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https://criu.org/Main_Page</a:t>
            </a:r>
            <a:endParaRPr sz="2300">
              <a:solidFill>
                <a:srgbClr val="333333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728" name="Google Shape;728;g3e79784054a_8_248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g3e79784054a_8_248"/>
          <p:cNvSpPr txBox="1"/>
          <p:nvPr>
            <p:ph idx="4294967295" type="sldNum"/>
          </p:nvPr>
        </p:nvSpPr>
        <p:spPr>
          <a:xfrm>
            <a:off x="10244552" y="641476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730" name="Google Shape;730;g3e79784054a_8_248"/>
          <p:cNvSpPr txBox="1"/>
          <p:nvPr>
            <p:ph type="title"/>
          </p:nvPr>
        </p:nvSpPr>
        <p:spPr>
          <a:xfrm>
            <a:off x="761975" y="9555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Bibliography</a:t>
            </a:r>
            <a:endParaRPr b="1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e79784054a_8_242"/>
          <p:cNvSpPr txBox="1"/>
          <p:nvPr/>
        </p:nvSpPr>
        <p:spPr>
          <a:xfrm>
            <a:off x="1734543" y="6414762"/>
            <a:ext cx="196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26-02-23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g3e79784054a_8_242"/>
          <p:cNvSpPr txBox="1"/>
          <p:nvPr>
            <p:ph idx="4294967295" type="sldNum"/>
          </p:nvPr>
        </p:nvSpPr>
        <p:spPr>
          <a:xfrm>
            <a:off x="10244552" y="641476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US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  <p:sp>
        <p:nvSpPr>
          <p:cNvPr id="737" name="Google Shape;737;g3e79784054a_8_242"/>
          <p:cNvSpPr txBox="1"/>
          <p:nvPr>
            <p:ph type="title"/>
          </p:nvPr>
        </p:nvSpPr>
        <p:spPr>
          <a:xfrm>
            <a:off x="762000" y="3048000"/>
            <a:ext cx="10668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A1A1A"/>
                </a:solidFill>
                <a:latin typeface="Garamond"/>
                <a:ea typeface="Garamond"/>
                <a:cs typeface="Garamond"/>
                <a:sym typeface="Garamond"/>
              </a:rPr>
              <a:t>Thank You!</a:t>
            </a:r>
            <a:endParaRPr b="1">
              <a:solidFill>
                <a:srgbClr val="1A1A1A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2F1EE"/>
      </a:lt1>
      <a:dk2>
        <a:srgbClr val="A7A7A7"/>
      </a:dk2>
      <a:lt2>
        <a:srgbClr val="535353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707070"/>
      </a:accent5>
      <a:accent6>
        <a:srgbClr val="FEFF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707070"/>
      </a:accent5>
      <a:accent6>
        <a:srgbClr val="FEFF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2F1EE"/>
      </a:lt1>
      <a:dk2>
        <a:srgbClr val="A7A7A7"/>
      </a:dk2>
      <a:lt2>
        <a:srgbClr val="535353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707070"/>
      </a:accent5>
      <a:accent6>
        <a:srgbClr val="FEFF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